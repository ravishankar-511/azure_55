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39" y="1033272"/>
            <a:ext cx="5892073" cy="389534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80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40" y="5733288"/>
            <a:ext cx="5892071" cy="795528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F08B46D-341A-2502-FE91-2C5EF771037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931152" y="793817"/>
            <a:ext cx="5260848" cy="6064181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938587" y="207982"/>
            <a:ext cx="2662798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DDBB271-B672-47B6-BEA4-D5B13A414588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70B653E-3C8C-4413-B8F7-48E30A81A1C5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F2C2C7B-6B47-4A5B-B24C-B316964ABE62}"/>
              </a:ext>
            </a:extLst>
          </p:cNvPr>
          <p:cNvCxnSpPr>
            <a:cxnSpLocks/>
          </p:cNvCxnSpPr>
          <p:nvPr/>
        </p:nvCxnSpPr>
        <p:spPr>
          <a:xfrm flipV="1">
            <a:off x="6929823" y="789558"/>
            <a:ext cx="0" cy="6068442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F32355F-80FD-3956-F8D4-9DF4073D0E2E}"/>
              </a:ext>
            </a:extLst>
          </p:cNvPr>
          <p:cNvCxnSpPr>
            <a:cxnSpLocks/>
          </p:cNvCxnSpPr>
          <p:nvPr/>
        </p:nvCxnSpPr>
        <p:spPr>
          <a:xfrm>
            <a:off x="0" y="5420250"/>
            <a:ext cx="6929823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D4DD8B2-0D73-EB9B-9708-67DF28E40F96}"/>
              </a:ext>
            </a:extLst>
          </p:cNvPr>
          <p:cNvCxnSpPr>
            <a:cxnSpLocks/>
          </p:cNvCxnSpPr>
          <p:nvPr/>
        </p:nvCxnSpPr>
        <p:spPr>
          <a:xfrm>
            <a:off x="0" y="791907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84658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612648"/>
            <a:ext cx="11253668" cy="1106424"/>
          </a:xfrm>
        </p:spPr>
        <p:txBody>
          <a:bodyPr/>
          <a:lstStyle>
            <a:lvl1pPr>
              <a:defRPr sz="6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559" y="2139696"/>
            <a:ext cx="11253668" cy="42885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D457B6E-DC25-9A54-64F7-98703149B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D49DF708-DA4E-D117-5CE8-7401A836F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BB271-B672-47B6-BEA4-D5B13A414588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D1AE2728-8254-BE0F-89AB-2D5352D66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B653E-3C8C-4413-B8F7-48E30A81A1C5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93DFD8D-B66E-C844-B523-E3C51265F5EA}"/>
              </a:ext>
            </a:extLst>
          </p:cNvPr>
          <p:cNvCxnSpPr>
            <a:cxnSpLocks/>
          </p:cNvCxnSpPr>
          <p:nvPr/>
        </p:nvCxnSpPr>
        <p:spPr>
          <a:xfrm>
            <a:off x="0" y="1805563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90893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" y="5223554"/>
            <a:ext cx="11430000" cy="9144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39" y="6083090"/>
            <a:ext cx="11429999" cy="566928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F08B46D-341A-2502-FE91-2C5EF771037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50694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DDDBB271-B672-47B6-BEA4-D5B13A414588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B70B653E-3C8C-4413-B8F7-48E30A81A1C5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ABE8472-319C-7663-7B71-2A6549DED7EF}"/>
              </a:ext>
            </a:extLst>
          </p:cNvPr>
          <p:cNvCxnSpPr>
            <a:cxnSpLocks/>
          </p:cNvCxnSpPr>
          <p:nvPr/>
        </p:nvCxnSpPr>
        <p:spPr>
          <a:xfrm>
            <a:off x="0" y="5068350"/>
            <a:ext cx="12188952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18615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" y="758952"/>
            <a:ext cx="7589520" cy="4087368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9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39" y="5404104"/>
            <a:ext cx="11515277" cy="576072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3" y="6254496"/>
            <a:ext cx="2963692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921742" y="6254496"/>
            <a:ext cx="1679642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DDBB271-B672-47B6-BEA4-D5B13A414588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254496"/>
            <a:ext cx="546447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70B653E-3C8C-4413-B8F7-48E30A81A1C5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05C310B-ED34-BA33-630C-F8D5EB2A41A2}"/>
              </a:ext>
            </a:extLst>
          </p:cNvPr>
          <p:cNvCxnSpPr>
            <a:cxnSpLocks/>
          </p:cNvCxnSpPr>
          <p:nvPr/>
        </p:nvCxnSpPr>
        <p:spPr>
          <a:xfrm>
            <a:off x="0" y="6057900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6B77E3C-9D50-9277-C646-D9B5AB8122BB}"/>
              </a:ext>
            </a:extLst>
          </p:cNvPr>
          <p:cNvCxnSpPr>
            <a:cxnSpLocks/>
          </p:cNvCxnSpPr>
          <p:nvPr/>
        </p:nvCxnSpPr>
        <p:spPr>
          <a:xfrm>
            <a:off x="0" y="5274776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49202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bg>
      <p:bgPr>
        <a:solidFill>
          <a:srgbClr val="C835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77CE2-4402-942B-FD26-6E29BDAB9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" y="1435608"/>
            <a:ext cx="11594592" cy="5559552"/>
          </a:xfrm>
        </p:spPr>
        <p:txBody>
          <a:bodyPr anchor="b">
            <a:normAutofit/>
          </a:bodyPr>
          <a:lstStyle>
            <a:lvl1pPr>
              <a:lnSpc>
                <a:spcPct val="67000"/>
              </a:lnSpc>
              <a:defRPr sz="14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C3F3D2-CADD-A94F-6739-CCCDA6C6F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CC541E-3AF5-9564-CE04-E4B86459D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DDBB271-B672-47B6-BEA4-D5B13A414588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C772A7-7F28-0EB0-D243-BCC6917DA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70B653E-3C8C-4413-B8F7-48E30A81A1C5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F716D65-B11C-E9B7-66BF-88E72C5DCEBA}"/>
              </a:ext>
            </a:extLst>
          </p:cNvPr>
          <p:cNvCxnSpPr>
            <a:cxnSpLocks/>
          </p:cNvCxnSpPr>
          <p:nvPr/>
        </p:nvCxnSpPr>
        <p:spPr>
          <a:xfrm>
            <a:off x="0" y="783822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862598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Agenda">
    <p:bg>
      <p:bgPr>
        <a:solidFill>
          <a:schemeClr val="bg2">
            <a:lumMod val="90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7" y="886968"/>
            <a:ext cx="11405277" cy="1170432"/>
          </a:xfrm>
        </p:spPr>
        <p:txBody>
          <a:bodyPr>
            <a:normAutofit/>
          </a:bodyPr>
          <a:lstStyle>
            <a:lvl1pPr>
              <a:defRPr sz="8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599C6D-D164-AA94-72F8-241C18719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4881" y="2832652"/>
            <a:ext cx="6893719" cy="3508951"/>
          </a:xfrm>
        </p:spPr>
        <p:txBody>
          <a:bodyPr anchor="t"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800100" indent="-342900">
              <a:buFont typeface="+mj-lt"/>
              <a:buAutoNum type="arabicPeriod"/>
              <a:defRPr sz="1800"/>
            </a:lvl2pPr>
            <a:lvl3pPr marL="1257300" indent="-342900">
              <a:buFont typeface="+mj-lt"/>
              <a:buAutoNum type="arabicPeriod"/>
              <a:defRPr sz="1600"/>
            </a:lvl3pPr>
            <a:lvl4pPr marL="1714500" indent="-342900">
              <a:buFont typeface="+mj-lt"/>
              <a:buAutoNum type="arabicPeriod"/>
              <a:defRPr sz="1400"/>
            </a:lvl4pPr>
            <a:lvl5pPr marL="21717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B50CAA-07B2-F8CA-1425-4249CE17A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BB271-B672-47B6-BEA4-D5B13A414588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DEAD866-E26E-BF23-7B5D-9F689B2FA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B653E-3C8C-4413-B8F7-48E30A81A1C5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8AC7CAE-FC19-2728-AA3B-1D2FE7879B25}"/>
              </a:ext>
            </a:extLst>
          </p:cNvPr>
          <p:cNvCxnSpPr>
            <a:cxnSpLocks/>
          </p:cNvCxnSpPr>
          <p:nvPr/>
        </p:nvCxnSpPr>
        <p:spPr>
          <a:xfrm>
            <a:off x="0" y="2118492"/>
            <a:ext cx="12192000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11B3592-91FB-05F4-B422-A40D7CD4DE2D}"/>
              </a:ext>
            </a:extLst>
          </p:cNvPr>
          <p:cNvCxnSpPr>
            <a:cxnSpLocks/>
          </p:cNvCxnSpPr>
          <p:nvPr/>
        </p:nvCxnSpPr>
        <p:spPr>
          <a:xfrm>
            <a:off x="0" y="800100"/>
            <a:ext cx="12192000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09177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with Picture">
    <p:bg>
      <p:bgPr>
        <a:solidFill>
          <a:schemeClr val="bg2">
            <a:lumMod val="90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66944" y="521208"/>
            <a:ext cx="6647688" cy="1865376"/>
          </a:xfrm>
        </p:spPr>
        <p:txBody>
          <a:bodyPr>
            <a:normAutofit/>
          </a:bodyPr>
          <a:lstStyle>
            <a:lvl1pPr>
              <a:defRPr sz="80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AD3A4126-4E48-DD2C-1468-6A36AE6C1D1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917320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66943" y="2651760"/>
            <a:ext cx="6327648" cy="3547872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800100" indent="-342900">
              <a:buFont typeface="+mj-lt"/>
              <a:buAutoNum type="arabicPeriod"/>
              <a:defRPr sz="1800"/>
            </a:lvl2pPr>
            <a:lvl3pPr marL="1257300" indent="-342900">
              <a:buFont typeface="+mj-lt"/>
              <a:buAutoNum type="arabicPeriod"/>
              <a:defRPr sz="1600"/>
            </a:lvl3pPr>
            <a:lvl4pPr marL="1714500" indent="-342900">
              <a:buFont typeface="+mj-lt"/>
              <a:buAutoNum type="arabicPeriod"/>
              <a:defRPr sz="1400"/>
            </a:lvl4pPr>
            <a:lvl5pPr marL="21717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1899" y="210312"/>
            <a:ext cx="2962656" cy="411480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73511" y="210312"/>
            <a:ext cx="1679642" cy="411480"/>
          </a:xfrm>
        </p:spPr>
        <p:txBody>
          <a:bodyPr/>
          <a:lstStyle/>
          <a:p>
            <a:fld id="{DDDBB271-B672-47B6-BEA4-D5B13A414588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B653E-3C8C-4413-B8F7-48E30A81A1C5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7633BE4-C9B9-310C-1EAE-191B5D344B59}"/>
              </a:ext>
            </a:extLst>
          </p:cNvPr>
          <p:cNvCxnSpPr>
            <a:cxnSpLocks/>
          </p:cNvCxnSpPr>
          <p:nvPr/>
        </p:nvCxnSpPr>
        <p:spPr>
          <a:xfrm>
            <a:off x="4923916" y="2452449"/>
            <a:ext cx="7268084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A010762-96A4-4E1C-CD5D-EE1C1D1FC6E2}"/>
              </a:ext>
            </a:extLst>
          </p:cNvPr>
          <p:cNvCxnSpPr>
            <a:cxnSpLocks/>
          </p:cNvCxnSpPr>
          <p:nvPr/>
        </p:nvCxnSpPr>
        <p:spPr>
          <a:xfrm flipV="1">
            <a:off x="4923916" y="0"/>
            <a:ext cx="0" cy="685800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70235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191" y="2077374"/>
            <a:ext cx="4479107" cy="2691413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66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F7DEB5EF-910B-9B2B-CB95-1AD374FEC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51577" y="2210542"/>
            <a:ext cx="5869293" cy="2432477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5FD4BD0F-0EF0-D5B9-5485-1ECB765DC5D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51577" y="207982"/>
            <a:ext cx="1921315" cy="413360"/>
          </a:xfrm>
        </p:spPr>
        <p:txBody>
          <a:bodyPr/>
          <a:lstStyle/>
          <a:p>
            <a:fld id="{DDDBB271-B672-47B6-BEA4-D5B13A414588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8566B317-2D55-4797-E621-551FCA482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B653E-3C8C-4413-B8F7-48E30A81A1C5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28C01F2-A815-18C2-F49B-D8E165722653}"/>
              </a:ext>
            </a:extLst>
          </p:cNvPr>
          <p:cNvCxnSpPr>
            <a:cxnSpLocks/>
          </p:cNvCxnSpPr>
          <p:nvPr/>
        </p:nvCxnSpPr>
        <p:spPr>
          <a:xfrm>
            <a:off x="5311938" y="1550633"/>
            <a:ext cx="0" cy="3756734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790D5D6-313A-8ACD-591F-F8BEC510B947}"/>
              </a:ext>
            </a:extLst>
          </p:cNvPr>
          <p:cNvCxnSpPr>
            <a:cxnSpLocks/>
          </p:cNvCxnSpPr>
          <p:nvPr/>
        </p:nvCxnSpPr>
        <p:spPr>
          <a:xfrm>
            <a:off x="0" y="5308844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F6F1415-3933-6D89-472D-2FA4BBB279E7}"/>
              </a:ext>
            </a:extLst>
          </p:cNvPr>
          <p:cNvCxnSpPr>
            <a:cxnSpLocks/>
          </p:cNvCxnSpPr>
          <p:nvPr/>
        </p:nvCxnSpPr>
        <p:spPr>
          <a:xfrm>
            <a:off x="0" y="1550633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52885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192" y="1249959"/>
            <a:ext cx="4085912" cy="512567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66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A5B8121-E925-2131-A76A-FBDAB0BC9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8384" y="1249959"/>
            <a:ext cx="6440424" cy="52387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DBA5BEFD-7245-BB4D-0F86-F1C3A32E067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63852" y="207982"/>
            <a:ext cx="1921315" cy="413360"/>
          </a:xfrm>
        </p:spPr>
        <p:txBody>
          <a:bodyPr/>
          <a:lstStyle/>
          <a:p>
            <a:fld id="{DDDBB271-B672-47B6-BEA4-D5B13A414588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5879897-4AF6-4B38-AB30-8DD979DC5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B653E-3C8C-4413-B8F7-48E30A81A1C5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28C01F2-A815-18C2-F49B-D8E165722653}"/>
              </a:ext>
            </a:extLst>
          </p:cNvPr>
          <p:cNvCxnSpPr>
            <a:cxnSpLocks/>
          </p:cNvCxnSpPr>
          <p:nvPr/>
        </p:nvCxnSpPr>
        <p:spPr>
          <a:xfrm>
            <a:off x="4918746" y="805343"/>
            <a:ext cx="0" cy="6052657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11659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0876" y="749808"/>
            <a:ext cx="6442024" cy="20391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2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910328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0875" y="213482"/>
            <a:ext cx="2962656" cy="411480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09227" y="210312"/>
            <a:ext cx="1679642" cy="411480"/>
          </a:xfrm>
        </p:spPr>
        <p:txBody>
          <a:bodyPr/>
          <a:lstStyle/>
          <a:p>
            <a:fld id="{DDDBB271-B672-47B6-BEA4-D5B13A414588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B653E-3C8C-4413-B8F7-48E30A81A1C5}" type="slidenum">
              <a:rPr lang="en-IN" smtClean="0"/>
              <a:t>‹#›</a:t>
            </a:fld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0875" y="2944368"/>
            <a:ext cx="6442025" cy="35716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4910328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01897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0308" y="612648"/>
            <a:ext cx="7022592" cy="103327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342584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D81791C-036D-058C-0055-96793694D65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750307" y="210312"/>
            <a:ext cx="3531437" cy="413360"/>
          </a:xfrm>
        </p:spPr>
        <p:txBody>
          <a:bodyPr/>
          <a:lstStyle/>
          <a:p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2A8DE5B-9C41-DE5B-BF91-98510120DCF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9582299" y="210312"/>
            <a:ext cx="1679642" cy="413360"/>
          </a:xfrm>
        </p:spPr>
        <p:txBody>
          <a:bodyPr/>
          <a:lstStyle/>
          <a:p>
            <a:fld id="{DDDBB271-B672-47B6-BEA4-D5B13A414588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0E0FD979-F905-C567-8E21-A3EDCE17980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B70B653E-3C8C-4413-B8F7-48E30A81A1C5}" type="slidenum">
              <a:rPr lang="en-IN" smtClean="0"/>
              <a:t>‹#›</a:t>
            </a:fld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50307" y="1746503"/>
            <a:ext cx="7022592" cy="48066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4345760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51588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612648"/>
            <a:ext cx="7015483" cy="103327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BB59EF2B-7C7F-BA27-16C2-C56B21D3774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2A99D216-CE5A-6458-A23E-BE0E554AC3D1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5224951" y="207982"/>
            <a:ext cx="1682496" cy="413360"/>
          </a:xfrm>
        </p:spPr>
        <p:txBody>
          <a:bodyPr/>
          <a:lstStyle/>
          <a:p>
            <a:fld id="{DDDBB271-B672-47B6-BEA4-D5B13A414588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3220FA64-3C9A-EBCF-5C28-E7DED40C97D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789594" y="207982"/>
            <a:ext cx="546447" cy="413360"/>
          </a:xfrm>
        </p:spPr>
        <p:txBody>
          <a:bodyPr/>
          <a:lstStyle/>
          <a:p>
            <a:fld id="{B70B653E-3C8C-4413-B8F7-48E30A81A1C5}" type="slidenum">
              <a:rPr lang="en-IN" smtClean="0"/>
              <a:t>‹#›</a:t>
            </a:fld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3" y="1746504"/>
            <a:ext cx="7018271" cy="48066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773592" y="0"/>
            <a:ext cx="4417215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7768833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21765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773" y="749808"/>
            <a:ext cx="5778227" cy="103327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0312"/>
            <a:ext cx="2962656" cy="411480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969163" y="210312"/>
            <a:ext cx="1679642" cy="411480"/>
          </a:xfrm>
        </p:spPr>
        <p:txBody>
          <a:bodyPr/>
          <a:lstStyle/>
          <a:p>
            <a:fld id="{DDDBB271-B672-47B6-BEA4-D5B13A414588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614093" y="210312"/>
            <a:ext cx="546447" cy="413360"/>
          </a:xfrm>
        </p:spPr>
        <p:txBody>
          <a:bodyPr/>
          <a:lstStyle/>
          <a:p>
            <a:fld id="{B70B653E-3C8C-4413-B8F7-48E30A81A1C5}" type="slidenum">
              <a:rPr lang="en-IN" smtClean="0"/>
              <a:t>‹#›</a:t>
            </a:fld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3" y="1993391"/>
            <a:ext cx="5778227" cy="455980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575416" y="0"/>
            <a:ext cx="5616584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F4034EB-F498-D527-195A-D17B85027774}"/>
              </a:ext>
            </a:extLst>
          </p:cNvPr>
          <p:cNvCxnSpPr>
            <a:cxnSpLocks/>
          </p:cNvCxnSpPr>
          <p:nvPr/>
        </p:nvCxnSpPr>
        <p:spPr>
          <a:xfrm>
            <a:off x="6570629" y="0"/>
            <a:ext cx="0" cy="6857999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733206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749808"/>
            <a:ext cx="4123680" cy="151790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0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3" y="210312"/>
            <a:ext cx="2260057" cy="411480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29329" y="210312"/>
            <a:ext cx="1058111" cy="411480"/>
          </a:xfrm>
        </p:spPr>
        <p:txBody>
          <a:bodyPr/>
          <a:lstStyle/>
          <a:p>
            <a:fld id="{DDDBB271-B672-47B6-BEA4-D5B13A414588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010197" y="210312"/>
            <a:ext cx="440969" cy="413360"/>
          </a:xfrm>
        </p:spPr>
        <p:txBody>
          <a:bodyPr/>
          <a:lstStyle/>
          <a:p>
            <a:fld id="{B70B653E-3C8C-4413-B8F7-48E30A81A1C5}" type="slidenum">
              <a:rPr lang="en-IN" smtClean="0"/>
              <a:t>‹#›</a:t>
            </a:fld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9704" y="2578609"/>
            <a:ext cx="4130606" cy="37124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912658" y="0"/>
            <a:ext cx="7279341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4907963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40674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749808"/>
            <a:ext cx="11514755" cy="96012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2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8890DBE-0DD3-8504-F95F-4225535FB1B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4BB28A-95D9-4CE6-DA59-520BA3C61CD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DDBB271-B672-47B6-BEA4-D5B13A414588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E1FA0A0C-CE55-CB7D-174D-D77937630A9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B70B653E-3C8C-4413-B8F7-48E30A81A1C5}" type="slidenum">
              <a:rPr lang="en-IN" smtClean="0"/>
              <a:t>‹#›</a:t>
            </a:fld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3" y="2180556"/>
            <a:ext cx="5012355" cy="428425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822674" y="1834524"/>
            <a:ext cx="6378722" cy="5023476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C753443-12E2-4CD3-2C6F-4E20536BA82B}"/>
              </a:ext>
            </a:extLst>
          </p:cNvPr>
          <p:cNvCxnSpPr>
            <a:cxnSpLocks/>
          </p:cNvCxnSpPr>
          <p:nvPr/>
        </p:nvCxnSpPr>
        <p:spPr>
          <a:xfrm>
            <a:off x="5816454" y="1827254"/>
            <a:ext cx="0" cy="504063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9B4AF9B-8CF3-D7A8-CDB9-8E513FFF57EC}"/>
              </a:ext>
            </a:extLst>
          </p:cNvPr>
          <p:cNvCxnSpPr>
            <a:cxnSpLocks/>
          </p:cNvCxnSpPr>
          <p:nvPr/>
        </p:nvCxnSpPr>
        <p:spPr>
          <a:xfrm>
            <a:off x="0" y="1827254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1890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5166364"/>
            <a:ext cx="3656530" cy="122342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8096" cy="4837176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99121" y="5166364"/>
            <a:ext cx="7073776" cy="1223420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6437376"/>
            <a:ext cx="2962656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99121" y="6437193"/>
            <a:ext cx="4549413" cy="365125"/>
          </a:xfrm>
        </p:spPr>
        <p:txBody>
          <a:bodyPr/>
          <a:lstStyle/>
          <a:p>
            <a:fld id="{DDDBB271-B672-47B6-BEA4-D5B13A414588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437376"/>
            <a:ext cx="546447" cy="413360"/>
          </a:xfrm>
        </p:spPr>
        <p:txBody>
          <a:bodyPr/>
          <a:lstStyle/>
          <a:p>
            <a:fld id="{B70B653E-3C8C-4413-B8F7-48E30A81A1C5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DF9F6E2-159F-CDF3-F2D3-AB7A7E505C0B}"/>
              </a:ext>
            </a:extLst>
          </p:cNvPr>
          <p:cNvCxnSpPr>
            <a:cxnSpLocks/>
          </p:cNvCxnSpPr>
          <p:nvPr/>
        </p:nvCxnSpPr>
        <p:spPr>
          <a:xfrm>
            <a:off x="4283425" y="4837176"/>
            <a:ext cx="0" cy="2020824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D4F9120-94C1-CA43-BF4E-9411F4866A20}"/>
              </a:ext>
            </a:extLst>
          </p:cNvPr>
          <p:cNvCxnSpPr>
            <a:cxnSpLocks/>
          </p:cNvCxnSpPr>
          <p:nvPr/>
        </p:nvCxnSpPr>
        <p:spPr>
          <a:xfrm>
            <a:off x="-1250" y="4842106"/>
            <a:ext cx="1219325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840251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762002"/>
            <a:ext cx="6612786" cy="1555895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60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A2AC736-2858-40E1-3533-38692573ECE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F901C69-26AA-7830-9BFF-EC62E8208AB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DDBB271-B672-47B6-BEA4-D5B13A414588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83EC4C7-2AFC-9797-0F80-FCBABD2A856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B70B653E-3C8C-4413-B8F7-48E30A81A1C5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6627" y="2435966"/>
            <a:ext cx="7283725" cy="4422032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068" y="762000"/>
            <a:ext cx="4092813" cy="579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88F70BF-1865-3761-955D-0621AA22B818}"/>
              </a:ext>
            </a:extLst>
          </p:cNvPr>
          <p:cNvCxnSpPr>
            <a:cxnSpLocks/>
          </p:cNvCxnSpPr>
          <p:nvPr/>
        </p:nvCxnSpPr>
        <p:spPr>
          <a:xfrm>
            <a:off x="0" y="2435966"/>
            <a:ext cx="72771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638DF4A-7DDF-7C24-D39A-EA7EAF7CFE63}"/>
              </a:ext>
            </a:extLst>
          </p:cNvPr>
          <p:cNvCxnSpPr>
            <a:cxnSpLocks/>
          </p:cNvCxnSpPr>
          <p:nvPr/>
        </p:nvCxnSpPr>
        <p:spPr>
          <a:xfrm>
            <a:off x="7277100" y="0"/>
            <a:ext cx="0" cy="6857999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160113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448056"/>
            <a:ext cx="11514759" cy="1124712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3482"/>
            <a:ext cx="2962656" cy="411480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1679642" cy="411480"/>
          </a:xfrm>
        </p:spPr>
        <p:txBody>
          <a:bodyPr/>
          <a:lstStyle/>
          <a:p>
            <a:fld id="{DDDBB271-B672-47B6-BEA4-D5B13A414588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207982"/>
            <a:ext cx="546447" cy="411480"/>
          </a:xfrm>
        </p:spPr>
        <p:txBody>
          <a:bodyPr/>
          <a:lstStyle/>
          <a:p>
            <a:fld id="{B70B653E-3C8C-4413-B8F7-48E30A81A1C5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3614" y="1700784"/>
            <a:ext cx="3318170" cy="5157216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1441" y="2130553"/>
            <a:ext cx="7971459" cy="44226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C347961-3E7C-FAAC-2283-DA751A80201C}"/>
              </a:ext>
            </a:extLst>
          </p:cNvPr>
          <p:cNvCxnSpPr>
            <a:cxnSpLocks/>
          </p:cNvCxnSpPr>
          <p:nvPr/>
        </p:nvCxnSpPr>
        <p:spPr>
          <a:xfrm>
            <a:off x="0" y="1695518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E4B3C03-E31F-77F7-02F0-8C25E1C62792}"/>
              </a:ext>
            </a:extLst>
          </p:cNvPr>
          <p:cNvCxnSpPr>
            <a:cxnSpLocks/>
          </p:cNvCxnSpPr>
          <p:nvPr/>
        </p:nvCxnSpPr>
        <p:spPr>
          <a:xfrm>
            <a:off x="3318170" y="1695518"/>
            <a:ext cx="0" cy="5162482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229869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umber Large">
    <p:bg>
      <p:bgPr>
        <a:solidFill>
          <a:schemeClr val="bg2">
            <a:lumMod val="90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71232" y="1188720"/>
            <a:ext cx="4069080" cy="4480560"/>
          </a:xfrm>
        </p:spPr>
        <p:txBody>
          <a:bodyPr anchor="ctr">
            <a:normAutofit/>
          </a:bodyPr>
          <a:lstStyle>
            <a:lvl1pPr>
              <a:lnSpc>
                <a:spcPct val="110000"/>
              </a:lnSpc>
              <a:defRPr sz="2800" cap="none" baseline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48056" y="1609344"/>
            <a:ext cx="6775704" cy="4151376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 algn="r">
              <a:lnSpc>
                <a:spcPct val="70000"/>
              </a:lnSpc>
              <a:buNone/>
              <a:defRPr lang="en-US" sz="33400" dirty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2pPr>
            <a:lvl3pPr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3pPr>
            <a:lvl4pPr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4pPr>
            <a:lvl5pPr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5pPr>
          </a:lstStyle>
          <a:p>
            <a:pPr lvl="0"/>
            <a:r>
              <a:rPr lang="en-US" dirty="0"/>
              <a:t>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0312"/>
            <a:ext cx="2962656" cy="411480"/>
          </a:xfrm>
        </p:spPr>
        <p:txBody>
          <a:bodyPr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1679642" cy="411480"/>
          </a:xfrm>
        </p:spPr>
        <p:txBody>
          <a:bodyPr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DDBB271-B672-47B6-BEA4-D5B13A414588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210312"/>
            <a:ext cx="546447" cy="411480"/>
          </a:xfrm>
        </p:spPr>
        <p:txBody>
          <a:bodyPr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70B653E-3C8C-4413-B8F7-48E30A81A1C5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34144DB-F44E-C5EB-68A1-D39E3F401C4E}"/>
              </a:ext>
            </a:extLst>
          </p:cNvPr>
          <p:cNvCxnSpPr>
            <a:cxnSpLocks/>
          </p:cNvCxnSpPr>
          <p:nvPr/>
        </p:nvCxnSpPr>
        <p:spPr>
          <a:xfrm>
            <a:off x="0" y="6069441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68713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"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17773" y="914400"/>
            <a:ext cx="10045427" cy="4464554"/>
          </a:xfrm>
        </p:spPr>
        <p:txBody>
          <a:bodyPr anchor="ctr">
            <a:noAutofit/>
          </a:bodyPr>
          <a:lstStyle>
            <a:lvl1pPr marL="0" indent="0">
              <a:lnSpc>
                <a:spcPct val="75000"/>
              </a:lnSpc>
              <a:buNone/>
              <a:defRPr sz="8800" b="0">
                <a:solidFill>
                  <a:schemeClr val="tx2"/>
                </a:solidFill>
                <a:latin typeface="+mj-lt"/>
              </a:defRPr>
            </a:lvl1pPr>
            <a:lvl2pPr marL="228600" indent="0">
              <a:lnSpc>
                <a:spcPct val="100000"/>
              </a:lnSpc>
              <a:buNone/>
              <a:defRPr sz="8000" b="0">
                <a:solidFill>
                  <a:schemeClr val="tx2"/>
                </a:solidFill>
                <a:latin typeface="+mj-lt"/>
              </a:defRPr>
            </a:lvl2pPr>
            <a:lvl3pPr marL="457200" indent="0">
              <a:lnSpc>
                <a:spcPct val="100000"/>
              </a:lnSpc>
              <a:buNone/>
              <a:defRPr sz="7200" b="0">
                <a:solidFill>
                  <a:schemeClr val="tx2"/>
                </a:solidFill>
                <a:latin typeface="+mj-lt"/>
              </a:defRPr>
            </a:lvl3pPr>
            <a:lvl4pPr marL="685800" indent="0">
              <a:lnSpc>
                <a:spcPct val="100000"/>
              </a:lnSpc>
              <a:buNone/>
              <a:defRPr sz="6600" b="0">
                <a:solidFill>
                  <a:schemeClr val="tx2"/>
                </a:solidFill>
                <a:latin typeface="+mj-lt"/>
              </a:defRPr>
            </a:lvl4pPr>
            <a:lvl5pPr marL="914400" indent="0">
              <a:lnSpc>
                <a:spcPct val="100000"/>
              </a:lnSpc>
              <a:buNone/>
              <a:defRPr sz="6000" b="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3" y="6263640"/>
            <a:ext cx="2963692" cy="41336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80069" y="6263640"/>
            <a:ext cx="1921315" cy="413360"/>
          </a:xfrm>
        </p:spPr>
        <p:txBody>
          <a:bodyPr/>
          <a:lstStyle/>
          <a:p>
            <a:fld id="{DDDBB271-B672-47B6-BEA4-D5B13A414588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263640"/>
            <a:ext cx="546447" cy="413360"/>
          </a:xfrm>
        </p:spPr>
        <p:txBody>
          <a:bodyPr/>
          <a:lstStyle/>
          <a:p>
            <a:fld id="{B70B653E-3C8C-4413-B8F7-48E30A81A1C5}" type="slidenum">
              <a:rPr lang="en-IN" smtClean="0"/>
              <a:t>‹#›</a:t>
            </a:fld>
            <a:endParaRPr lang="en-IN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A935D4C-A027-60A0-BEB8-B1A89C1C5E3A}"/>
              </a:ext>
            </a:extLst>
          </p:cNvPr>
          <p:cNvCxnSpPr>
            <a:cxnSpLocks/>
          </p:cNvCxnSpPr>
          <p:nvPr/>
        </p:nvCxnSpPr>
        <p:spPr>
          <a:xfrm>
            <a:off x="0" y="6057900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48648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Quot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3232" y="5440220"/>
            <a:ext cx="9299448" cy="1015996"/>
          </a:xfrm>
        </p:spPr>
        <p:txBody>
          <a:bodyPr anchor="ctr">
            <a:normAutofit/>
          </a:bodyPr>
          <a:lstStyle>
            <a:lvl1pPr>
              <a:defRPr sz="2000" cap="none" baseline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20040" y="1170816"/>
            <a:ext cx="9692640" cy="3872159"/>
          </a:xfrm>
        </p:spPr>
        <p:txBody>
          <a:bodyPr>
            <a:normAutofit/>
          </a:bodyPr>
          <a:lstStyle>
            <a:lvl1pPr marL="274320" indent="-274320">
              <a:lnSpc>
                <a:spcPct val="70000"/>
              </a:lnSpc>
              <a:buNone/>
              <a:defRPr sz="8800" cap="all" baseline="0">
                <a:solidFill>
                  <a:schemeClr val="tx2"/>
                </a:solidFill>
                <a:latin typeface="+mj-lt"/>
              </a:defRPr>
            </a:lvl1pPr>
            <a:lvl2pPr marL="274320" indent="-274320">
              <a:lnSpc>
                <a:spcPct val="70000"/>
              </a:lnSpc>
              <a:buNone/>
              <a:defRPr sz="80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2pPr>
            <a:lvl3pPr marL="274320" indent="-274320">
              <a:lnSpc>
                <a:spcPct val="70000"/>
              </a:lnSpc>
              <a:buNone/>
              <a:defRPr sz="72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3pPr>
            <a:lvl4pPr marL="274320" indent="-274320">
              <a:lnSpc>
                <a:spcPct val="70000"/>
              </a:lnSpc>
              <a:buNone/>
              <a:defRPr sz="66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4pPr>
            <a:lvl5pPr marL="274320" indent="-274320">
              <a:lnSpc>
                <a:spcPct val="70000"/>
              </a:lnSpc>
              <a:buNone/>
              <a:defRPr sz="66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0312"/>
            <a:ext cx="2962656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2443788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DDBB271-B672-47B6-BEA4-D5B13A414588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210312"/>
            <a:ext cx="546447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70B653E-3C8C-4413-B8F7-48E30A81A1C5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60C7B9-B6D9-6FB6-59EE-D9DB3BC93758}"/>
              </a:ext>
            </a:extLst>
          </p:cNvPr>
          <p:cNvCxnSpPr>
            <a:cxnSpLocks/>
          </p:cNvCxnSpPr>
          <p:nvPr/>
        </p:nvCxnSpPr>
        <p:spPr>
          <a:xfrm flipH="1">
            <a:off x="0" y="787179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15D9130-12F6-DFB8-70EF-9ACBA9FDECB0}"/>
              </a:ext>
            </a:extLst>
          </p:cNvPr>
          <p:cNvCxnSpPr>
            <a:cxnSpLocks/>
          </p:cNvCxnSpPr>
          <p:nvPr/>
        </p:nvCxnSpPr>
        <p:spPr>
          <a:xfrm>
            <a:off x="0" y="5274530"/>
            <a:ext cx="12192000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08215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594AB-EF90-9591-5954-F617B83D1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685800"/>
            <a:ext cx="11253668" cy="66569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6A57BED-3AFE-6AA9-E0D5-586748D61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47C21221-DC95-273B-0C4F-43B35ADA1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BB271-B672-47B6-BEA4-D5B13A414588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E44E859-99AA-D46F-1AD8-4C0F287F3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B653E-3C8C-4413-B8F7-48E30A81A1C5}" type="slidenum">
              <a:rPr lang="en-IN" smtClean="0"/>
              <a:t>‹#›</a:t>
            </a:fld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C3231F-0FFC-E2BB-36F8-9816E4DECE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7773" y="1773857"/>
            <a:ext cx="5349240" cy="44531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3CC2C1-ED8C-D52E-BEF5-671EDC6238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24987" y="1773858"/>
            <a:ext cx="5349240" cy="44531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397169B-5226-712F-36F4-352E56B637D4}"/>
              </a:ext>
            </a:extLst>
          </p:cNvPr>
          <p:cNvCxnSpPr>
            <a:cxnSpLocks/>
          </p:cNvCxnSpPr>
          <p:nvPr/>
        </p:nvCxnSpPr>
        <p:spPr>
          <a:xfrm>
            <a:off x="0" y="1442826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130487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4958D-8125-1BDA-53C9-9E2D33883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772" y="685800"/>
            <a:ext cx="11256264" cy="6675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294A4A-89C4-68BF-6701-5C47F940E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7908BC-F48B-81E4-8D93-7DB9E3716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BB271-B672-47B6-BEA4-D5B13A414588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F93A54-CB38-BEAF-260B-84EDDF301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B653E-3C8C-4413-B8F7-48E30A81A1C5}" type="slidenum">
              <a:rPr lang="en-IN" smtClean="0"/>
              <a:t>‹#›</a:t>
            </a:fld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09FF10-A82A-AAEB-4B8C-921F3BA202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7773" y="1773857"/>
            <a:ext cx="5349064" cy="590144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4D3C6A-509A-8CB1-B220-1CE755BE2F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17773" y="2368476"/>
            <a:ext cx="5349064" cy="38587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627A15-4AB2-F230-22C7-0605AFD7DF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24796" y="1773857"/>
            <a:ext cx="5349240" cy="590144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1ECFD5-92D0-1854-D18E-8BC5DF56A7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24796" y="2368476"/>
            <a:ext cx="5349240" cy="38587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D1AC07E-A077-E2A6-1718-DDDA542A8A98}"/>
              </a:ext>
            </a:extLst>
          </p:cNvPr>
          <p:cNvCxnSpPr>
            <a:cxnSpLocks/>
          </p:cNvCxnSpPr>
          <p:nvPr/>
        </p:nvCxnSpPr>
        <p:spPr>
          <a:xfrm>
            <a:off x="0" y="1442826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209314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17042-CDCB-3B2F-8C5B-24B17903E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A4C6AE-702E-258F-EA5E-02906C70D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339AE3-ADB1-728F-9FBA-2FD43A0AC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BB271-B672-47B6-BEA4-D5B13A414588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965F4B-E6CF-D83A-1F1B-81274FD57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B653E-3C8C-4413-B8F7-48E30A81A1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136787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E52550-02A6-D7FB-DD57-70C87BAA4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02D272-B561-7F82-06FB-C5DE719AA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BB271-B672-47B6-BEA4-D5B13A414588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EF0FF0-3A36-A128-D75E-71A4B54CB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B653E-3C8C-4413-B8F7-48E30A81A1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955689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8A45ECA-9413-0F81-085A-48CF6F23E1DC}"/>
              </a:ext>
            </a:extLst>
          </p:cNvPr>
          <p:cNvCxnSpPr>
            <a:cxnSpLocks/>
          </p:cNvCxnSpPr>
          <p:nvPr/>
        </p:nvCxnSpPr>
        <p:spPr>
          <a:xfrm>
            <a:off x="0" y="2118492"/>
            <a:ext cx="12192000" cy="0"/>
          </a:xfrm>
          <a:prstGeom prst="line">
            <a:avLst/>
          </a:prstGeom>
          <a:ln w="9525">
            <a:solidFill>
              <a:schemeClr val="tx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832104"/>
            <a:ext cx="11253668" cy="1225296"/>
          </a:xfrm>
        </p:spPr>
        <p:txBody>
          <a:bodyPr>
            <a:normAutofit/>
          </a:bodyPr>
          <a:lstStyle>
            <a:lvl1pPr>
              <a:defRPr sz="8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6263640"/>
            <a:ext cx="2962656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1" y="6263640"/>
            <a:ext cx="1933553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DDBB271-B672-47B6-BEA4-D5B13A414588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263640"/>
            <a:ext cx="546447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70B653E-3C8C-4413-B8F7-48E30A81A1C5}" type="slidenum">
              <a:rPr lang="en-IN" smtClean="0"/>
              <a:t>‹#›</a:t>
            </a:fld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557" y="3429001"/>
            <a:ext cx="11253669" cy="2773546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57678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60" y="1270390"/>
            <a:ext cx="7929980" cy="2060888"/>
          </a:xfrm>
        </p:spPr>
        <p:txBody>
          <a:bodyPr>
            <a:normAutofit/>
          </a:bodyPr>
          <a:lstStyle>
            <a:lvl1pPr>
              <a:defRPr sz="8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5" y="3794761"/>
            <a:ext cx="7932765" cy="15310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3482"/>
            <a:ext cx="2962656" cy="411480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1679642" cy="411480"/>
          </a:xfrm>
        </p:spPr>
        <p:txBody>
          <a:bodyPr/>
          <a:lstStyle/>
          <a:p>
            <a:fld id="{DDDBB271-B672-47B6-BEA4-D5B13A414588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B653E-3C8C-4413-B8F7-48E30A81A1C5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4D168F9-DE00-B9C1-AD77-139DA8AF3364}"/>
              </a:ext>
            </a:extLst>
          </p:cNvPr>
          <p:cNvCxnSpPr>
            <a:cxnSpLocks/>
          </p:cNvCxnSpPr>
          <p:nvPr/>
        </p:nvCxnSpPr>
        <p:spPr>
          <a:xfrm>
            <a:off x="0" y="3434907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14091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4398EFF-E3C5-E79D-1BD3-016E84949F9C}"/>
              </a:ext>
            </a:extLst>
          </p:cNvPr>
          <p:cNvCxnSpPr>
            <a:cxnSpLocks/>
          </p:cNvCxnSpPr>
          <p:nvPr/>
        </p:nvCxnSpPr>
        <p:spPr>
          <a:xfrm>
            <a:off x="0" y="789563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478947-1D67-18A4-7E48-5B4B2F97F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935798"/>
            <a:ext cx="11253668" cy="6656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FE08CA-9517-ABC1-E915-31EA6D7B73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0559" y="1707581"/>
            <a:ext cx="11253668" cy="48483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E3983D-E783-AAEC-26DB-4B3F6511C7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7773" y="207982"/>
            <a:ext cx="2963692" cy="413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850" b="1" cap="all" spc="100" baseline="0"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454426-0A97-D20B-FD06-9648AED777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80069" y="207982"/>
            <a:ext cx="1921315" cy="413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850" b="1" cap="all" spc="100" baseline="0">
                <a:solidFill>
                  <a:schemeClr val="tx2"/>
                </a:solidFill>
              </a:defRPr>
            </a:lvl1pPr>
          </a:lstStyle>
          <a:p>
            <a:fld id="{DDDBB271-B672-47B6-BEA4-D5B13A414588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A13386-8E2A-2962-4804-81558038BA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88870" y="207982"/>
            <a:ext cx="546447" cy="413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850" b="1" cap="all" baseline="0">
                <a:solidFill>
                  <a:schemeClr val="tx2"/>
                </a:solidFill>
              </a:defRPr>
            </a:lvl1pPr>
          </a:lstStyle>
          <a:p>
            <a:fld id="{B70B653E-3C8C-4413-B8F7-48E30A81A1C5}" type="slidenum">
              <a:rPr lang="en-IN" smtClean="0"/>
              <a:t>‹#›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143C14-E680-3360-0E4D-DA502AF50E85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197802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Classified as Microsoft Confidential</a:t>
            </a:r>
          </a:p>
        </p:txBody>
      </p:sp>
    </p:spTree>
    <p:extLst>
      <p:ext uri="{BB962C8B-B14F-4D97-AF65-F5344CB8AC3E}">
        <p14:creationId xmlns:p14="http://schemas.microsoft.com/office/powerpoint/2010/main" val="12055489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  <p:sldLayoutId id="2147483756" r:id="rId12"/>
    <p:sldLayoutId id="2147483757" r:id="rId13"/>
    <p:sldLayoutId id="2147483758" r:id="rId14"/>
    <p:sldLayoutId id="2147483759" r:id="rId15"/>
    <p:sldLayoutId id="2147483760" r:id="rId16"/>
    <p:sldLayoutId id="2147483761" r:id="rId17"/>
    <p:sldLayoutId id="2147483762" r:id="rId18"/>
    <p:sldLayoutId id="2147483763" r:id="rId19"/>
    <p:sldLayoutId id="2147483764" r:id="rId20"/>
    <p:sldLayoutId id="2147483765" r:id="rId21"/>
    <p:sldLayoutId id="2147483766" r:id="rId22"/>
    <p:sldLayoutId id="2147483767" r:id="rId23"/>
    <p:sldLayoutId id="2147483768" r:id="rId24"/>
    <p:sldLayoutId id="2147483769" r:id="rId25"/>
    <p:sldLayoutId id="2147483770" r:id="rId26"/>
    <p:sldLayoutId id="2147483771" r:id="rId27"/>
  </p:sldLayoutIdLst>
  <p:txStyles>
    <p:titleStyle>
      <a:lvl1pPr algn="l" defTabSz="914400" rtl="0" eaLnBrk="1" latinLnBrk="0" hangingPunct="1">
        <a:lnSpc>
          <a:spcPct val="70000"/>
        </a:lnSpc>
        <a:spcBef>
          <a:spcPct val="0"/>
        </a:spcBef>
        <a:buNone/>
        <a:defRPr sz="4000" kern="1200" cap="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80">
          <p15:clr>
            <a:srgbClr val="F26B43"/>
          </p15:clr>
        </p15:guide>
        <p15:guide id="2" pos="264">
          <p15:clr>
            <a:srgbClr val="F26B43"/>
          </p15:clr>
        </p15:guide>
        <p15:guide id="3" pos="7416">
          <p15:clr>
            <a:srgbClr val="F26B43"/>
          </p15:clr>
        </p15:guide>
        <p15:guide id="4" orient="horz" pos="3816">
          <p15:clr>
            <a:srgbClr val="F26B43"/>
          </p15:clr>
        </p15:guide>
        <p15:guide id="5" pos="7200">
          <p15:clr>
            <a:srgbClr val="F26B43"/>
          </p15:clr>
        </p15:guide>
        <p15:guide id="6" pos="504">
          <p15:clr>
            <a:srgbClr val="F26B43"/>
          </p15:clr>
        </p15:guide>
        <p15:guide id="7" orient="horz" pos="4128">
          <p15:clr>
            <a:srgbClr val="F26B43"/>
          </p15:clr>
        </p15:guide>
        <p15:guide id="8" orient="horz" pos="1056">
          <p15:clr>
            <a:srgbClr val="F26B43"/>
          </p15:clr>
        </p15:guide>
        <p15:guide id="9" pos="45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azure/automation/automation-runbook-types" TargetMode="External"/><Relationship Id="rId7" Type="http://schemas.openxmlformats.org/officeDocument/2006/relationships/hyperlink" Target="https://learn.microsoft.com/en-us/azure/role-based-access-control/overview" TargetMode="External"/><Relationship Id="rId2" Type="http://schemas.openxmlformats.org/officeDocument/2006/relationships/hyperlink" Target="https://learn.microsoft.com/en-us/azure/automation/" TargetMode="External"/><Relationship Id="rId1" Type="http://schemas.openxmlformats.org/officeDocument/2006/relationships/slideLayout" Target="../slideLayouts/slideLayout25.xml"/><Relationship Id="rId6" Type="http://schemas.openxmlformats.org/officeDocument/2006/relationships/hyperlink" Target="https://learn.microsoft.com/en-us/azure/azure-monitor/alerts/alerts-overview" TargetMode="External"/><Relationship Id="rId5" Type="http://schemas.openxmlformats.org/officeDocument/2006/relationships/hyperlink" Target="https://learn.microsoft.com/en-us/entra/identity/managed-identities-azure-resources/overview" TargetMode="External"/><Relationship Id="rId4" Type="http://schemas.openxmlformats.org/officeDocument/2006/relationships/hyperlink" Target="https://learn.microsoft.com/en-us/azure/virtual-machines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CD1C69C-045B-2CBC-26D9-7C7E676B23DE}"/>
              </a:ext>
            </a:extLst>
          </p:cNvPr>
          <p:cNvSpPr txBox="1"/>
          <p:nvPr/>
        </p:nvSpPr>
        <p:spPr>
          <a:xfrm>
            <a:off x="786991" y="444838"/>
            <a:ext cx="10795000" cy="477054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sz="2800" b="1" dirty="0">
                <a:latin typeface="Aptos Display" panose="020B0004020202020204" pitchFamily="34" charset="0"/>
              </a:rPr>
              <a:t>   Project: Azure Automation Runbooks for VM Start and Stop Schedules</a:t>
            </a:r>
            <a:endParaRPr lang="en-IN" sz="2800" b="1" dirty="0">
              <a:latin typeface="Aptos Display" panose="020B00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243BF2-5196-3421-2384-10FAB4FA04FB}"/>
              </a:ext>
            </a:extLst>
          </p:cNvPr>
          <p:cNvSpPr txBox="1"/>
          <p:nvPr/>
        </p:nvSpPr>
        <p:spPr>
          <a:xfrm>
            <a:off x="1676400" y="1437416"/>
            <a:ext cx="76200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200" b="1" dirty="0">
                <a:latin typeface="Aptos" panose="020B0004020202020204" pitchFamily="34" charset="0"/>
              </a:rPr>
              <a:t>Team Members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052ADA1-6861-F675-81DC-BB7FCEA884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13999"/>
              </p:ext>
            </p:extLst>
          </p:nvPr>
        </p:nvGraphicFramePr>
        <p:xfrm>
          <a:off x="1887794" y="2145726"/>
          <a:ext cx="8249262" cy="25665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9754">
                  <a:extLst>
                    <a:ext uri="{9D8B030D-6E8A-4147-A177-3AD203B41FA5}">
                      <a16:colId xmlns:a16="http://schemas.microsoft.com/office/drawing/2014/main" val="3058718931"/>
                    </a:ext>
                  </a:extLst>
                </a:gridCol>
                <a:gridCol w="2749754">
                  <a:extLst>
                    <a:ext uri="{9D8B030D-6E8A-4147-A177-3AD203B41FA5}">
                      <a16:colId xmlns:a16="http://schemas.microsoft.com/office/drawing/2014/main" val="3670365079"/>
                    </a:ext>
                  </a:extLst>
                </a:gridCol>
                <a:gridCol w="2749754">
                  <a:extLst>
                    <a:ext uri="{9D8B030D-6E8A-4147-A177-3AD203B41FA5}">
                      <a16:colId xmlns:a16="http://schemas.microsoft.com/office/drawing/2014/main" val="3537125801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Aptos" panose="020B0004020202020204" pitchFamily="34" charset="0"/>
                        </a:rPr>
                        <a:t>S.no</a:t>
                      </a:r>
                      <a:endParaRPr lang="en-IN" sz="1400" b="1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1" dirty="0">
                          <a:latin typeface="Aptos" panose="020B0004020202020204" pitchFamily="34" charset="0"/>
                        </a:rPr>
                        <a:t>Student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1">
                          <a:latin typeface="Aptos" panose="020B0004020202020204" pitchFamily="34" charset="0"/>
                        </a:rPr>
                        <a:t>Student 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2149417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ptos" panose="020B0004020202020204" pitchFamily="34" charset="0"/>
                        </a:rPr>
                        <a:t>1</a:t>
                      </a:r>
                      <a:endParaRPr lang="en-IN" sz="1400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Aptos" panose="020B0004020202020204" pitchFamily="34" charset="0"/>
                        </a:rPr>
                        <a:t>LAVETI JYOTHI SRI LAKSHMI DURGA SAMBHAVI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>
                          <a:latin typeface="Aptos" panose="020B0004020202020204" pitchFamily="34" charset="0"/>
                        </a:rPr>
                        <a:t>2400031581 </a:t>
                      </a:r>
                    </a:p>
                    <a:p>
                      <a:endParaRPr lang="en-IN" sz="1400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8359160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Aptos" panose="020B000402020202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Aptos" panose="020B0004020202020204" pitchFamily="34" charset="0"/>
                        </a:rPr>
                        <a:t>RACHURI RAVI SHANKAR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>
                          <a:latin typeface="Aptos" panose="020B0004020202020204" pitchFamily="34" charset="0"/>
                        </a:rPr>
                        <a:t>2400030511</a:t>
                      </a:r>
                      <a:endParaRPr lang="en-IN" sz="1400" dirty="0">
                        <a:latin typeface="Aptos" panose="020B0004020202020204" pitchFamily="34" charset="0"/>
                      </a:endParaRPr>
                    </a:p>
                    <a:p>
                      <a:endParaRPr lang="en-IN" sz="1400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8919438"/>
                  </a:ext>
                </a:extLst>
              </a:tr>
              <a:tr h="565027"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Aptos" panose="020B000402020202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Aptos" panose="020B0004020202020204" pitchFamily="34" charset="0"/>
                        </a:rPr>
                        <a:t>SAMUDRALA LOKESH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Aptos" panose="020B0004020202020204" pitchFamily="34" charset="0"/>
                        </a:rPr>
                        <a:t>2400030109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4315913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Aptos" panose="020B000402020202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Aptos" panose="020B0004020202020204" pitchFamily="34" charset="0"/>
                        </a:rPr>
                        <a:t>KOPPU RUTHVIK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Aptos" panose="020B0004020202020204" pitchFamily="34" charset="0"/>
                        </a:rPr>
                        <a:t>2400030090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543366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CF05F445-5AA5-C4F6-1BFD-B7FD1C05BA10}"/>
              </a:ext>
            </a:extLst>
          </p:cNvPr>
          <p:cNvSpPr txBox="1"/>
          <p:nvPr/>
        </p:nvSpPr>
        <p:spPr>
          <a:xfrm>
            <a:off x="1813233" y="5205139"/>
            <a:ext cx="8890000" cy="96949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900" b="1" dirty="0">
                <a:latin typeface="Aptos" panose="020B0004020202020204" pitchFamily="34" charset="0"/>
              </a:rPr>
              <a:t>Guide</a:t>
            </a:r>
            <a:r>
              <a:rPr lang="en-US" sz="1900" dirty="0">
                <a:latin typeface="Aptos" panose="020B0004020202020204" pitchFamily="34" charset="0"/>
              </a:rPr>
              <a:t>: Dr P. Lakshmi     </a:t>
            </a:r>
            <a:r>
              <a:rPr lang="en-US" sz="1900" b="1" dirty="0">
                <a:latin typeface="Aptos" panose="020B0004020202020204" pitchFamily="34" charset="0"/>
              </a:rPr>
              <a:t>Section: </a:t>
            </a:r>
            <a:r>
              <a:rPr lang="en-US" sz="1900" dirty="0">
                <a:latin typeface="Aptos" panose="020B0004020202020204" pitchFamily="34" charset="0"/>
              </a:rPr>
              <a:t>S55    </a:t>
            </a:r>
            <a:r>
              <a:rPr lang="en-US" sz="1900" b="1" dirty="0">
                <a:latin typeface="Aptos" panose="020B0004020202020204" pitchFamily="34" charset="0"/>
              </a:rPr>
              <a:t>Team No</a:t>
            </a:r>
            <a:r>
              <a:rPr lang="en-US" sz="1900" dirty="0">
                <a:latin typeface="Aptos" panose="020B0004020202020204" pitchFamily="34" charset="0"/>
              </a:rPr>
              <a:t>.: T226   </a:t>
            </a:r>
          </a:p>
          <a:p>
            <a:r>
              <a:rPr lang="en-US" sz="1900" b="1" dirty="0">
                <a:latin typeface="Aptos" panose="020B0004020202020204" pitchFamily="34" charset="0"/>
              </a:rPr>
              <a:t>Project Code</a:t>
            </a:r>
            <a:r>
              <a:rPr lang="en-US" sz="1900" dirty="0">
                <a:latin typeface="Aptos" panose="020B0004020202020204" pitchFamily="34" charset="0"/>
              </a:rPr>
              <a:t>: 24CC3046-P022</a:t>
            </a:r>
          </a:p>
          <a:p>
            <a:r>
              <a:rPr lang="en-US" sz="1900" b="1" dirty="0">
                <a:latin typeface="Aptos" panose="020B0004020202020204" pitchFamily="34" charset="0"/>
              </a:rPr>
              <a:t>Department</a:t>
            </a:r>
            <a:r>
              <a:rPr lang="en-US" sz="1900" dirty="0">
                <a:latin typeface="Aptos" panose="020B0004020202020204" pitchFamily="34" charset="0"/>
              </a:rPr>
              <a:t>: Computer science and engineering(CSE)  </a:t>
            </a:r>
            <a:endParaRPr lang="en-IN" sz="19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2619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1137ED1-4EBC-49BE-DBFF-8EBFC107C545}"/>
              </a:ext>
            </a:extLst>
          </p:cNvPr>
          <p:cNvSpPr txBox="1"/>
          <p:nvPr/>
        </p:nvSpPr>
        <p:spPr>
          <a:xfrm>
            <a:off x="698500" y="381000"/>
            <a:ext cx="10795000" cy="507831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IN" sz="3000" b="1">
                <a:latin typeface="Aptos Display" panose="020B0004020202020204" pitchFamily="34" charset="0"/>
              </a:rPr>
              <a:t>Introduction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ACF9EA-1B0E-9BE7-B858-5483D5E9A367}"/>
              </a:ext>
            </a:extLst>
          </p:cNvPr>
          <p:cNvSpPr txBox="1"/>
          <p:nvPr/>
        </p:nvSpPr>
        <p:spPr>
          <a:xfrm>
            <a:off x="952500" y="1587500"/>
            <a:ext cx="10414000" cy="2626360"/>
          </a:xfrm>
          <a:prstGeom prst="rect">
            <a:avLst/>
          </a:prstGeom>
          <a:noFill/>
        </p:spPr>
        <p:txBody>
          <a:bodyPr vert="horz" lIns="127000" tIns="127000" rIns="127000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 sz="2100">
                <a:latin typeface="Aptos" panose="020B0004020202020204" pitchFamily="34" charset="0"/>
              </a:rPr>
              <a:t>• Azure VMs are often used for development and testing.</a:t>
            </a:r>
          </a:p>
          <a:p>
            <a:pPr>
              <a:spcAft>
                <a:spcPts val="800"/>
              </a:spcAft>
            </a:pPr>
            <a:r>
              <a:rPr lang="en-US" sz="2100">
                <a:latin typeface="Aptos" panose="020B0004020202020204" pitchFamily="34" charset="0"/>
              </a:rPr>
              <a:t>• These VMs may not be needed throughout the day.</a:t>
            </a:r>
          </a:p>
          <a:p>
            <a:pPr>
              <a:spcAft>
                <a:spcPts val="800"/>
              </a:spcAft>
            </a:pPr>
            <a:r>
              <a:rPr lang="en-US" sz="2100">
                <a:latin typeface="Aptos" panose="020B0004020202020204" pitchFamily="34" charset="0"/>
              </a:rPr>
              <a:t>• Keeping them running continuously increases the cloud cost.</a:t>
            </a:r>
          </a:p>
          <a:p>
            <a:pPr>
              <a:spcAft>
                <a:spcPts val="800"/>
              </a:spcAft>
            </a:pPr>
            <a:r>
              <a:rPr lang="en-US" sz="2100">
                <a:latin typeface="Aptos" panose="020B0004020202020204" pitchFamily="34" charset="0"/>
              </a:rPr>
              <a:t>• Azure Automation can automate VM start and stop operations.</a:t>
            </a:r>
          </a:p>
          <a:p>
            <a:pPr>
              <a:spcAft>
                <a:spcPts val="800"/>
              </a:spcAft>
            </a:pPr>
            <a:r>
              <a:rPr lang="en-US" sz="2100">
                <a:latin typeface="Aptos" panose="020B0004020202020204" pitchFamily="34" charset="0"/>
              </a:rPr>
              <a:t>• Our project uses Runbooks to manage VM schedules automatically.</a:t>
            </a:r>
          </a:p>
          <a:p>
            <a:pPr>
              <a:spcAft>
                <a:spcPts val="800"/>
              </a:spcAft>
            </a:pPr>
            <a:endParaRPr lang="en-IN" sz="210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77717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29305F4-DEA1-D85E-736B-9590536F1735}"/>
              </a:ext>
            </a:extLst>
          </p:cNvPr>
          <p:cNvSpPr txBox="1"/>
          <p:nvPr/>
        </p:nvSpPr>
        <p:spPr>
          <a:xfrm>
            <a:off x="698500" y="381000"/>
            <a:ext cx="10795000" cy="507831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IN" sz="3000" b="1">
                <a:latin typeface="Aptos Display" panose="020B0004020202020204" pitchFamily="34" charset="0"/>
              </a:rPr>
              <a:t>Problem Statement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2273C2B-91E7-2864-17D4-AD6EBDEF6588}"/>
              </a:ext>
            </a:extLst>
          </p:cNvPr>
          <p:cNvSpPr txBox="1"/>
          <p:nvPr/>
        </p:nvSpPr>
        <p:spPr>
          <a:xfrm>
            <a:off x="952500" y="1587500"/>
            <a:ext cx="10414000" cy="2626360"/>
          </a:xfrm>
          <a:prstGeom prst="rect">
            <a:avLst/>
          </a:prstGeom>
          <a:noFill/>
        </p:spPr>
        <p:txBody>
          <a:bodyPr vert="horz" lIns="127000" tIns="127000" rIns="127000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 sz="2100">
                <a:latin typeface="Aptos" panose="020B0004020202020204" pitchFamily="34" charset="0"/>
              </a:rPr>
              <a:t>• Non-production VMs are sometimes left running after working hours.</a:t>
            </a:r>
          </a:p>
          <a:p>
            <a:pPr>
              <a:spcAft>
                <a:spcPts val="800"/>
              </a:spcAft>
            </a:pPr>
            <a:r>
              <a:rPr lang="en-US" sz="2100">
                <a:latin typeface="Aptos" panose="020B0004020202020204" pitchFamily="34" charset="0"/>
              </a:rPr>
              <a:t>• This causes unnecessary cloud expenses.</a:t>
            </a:r>
          </a:p>
          <a:p>
            <a:pPr>
              <a:spcAft>
                <a:spcPts val="800"/>
              </a:spcAft>
            </a:pPr>
            <a:r>
              <a:rPr lang="en-US" sz="2100">
                <a:latin typeface="Aptos" panose="020B0004020202020204" pitchFamily="34" charset="0"/>
              </a:rPr>
              <a:t>• Manually starting and stopping VMs is not reliable.</a:t>
            </a:r>
          </a:p>
          <a:p>
            <a:pPr>
              <a:spcAft>
                <a:spcPts val="800"/>
              </a:spcAft>
            </a:pPr>
            <a:r>
              <a:rPr lang="en-US" sz="2100">
                <a:latin typeface="Aptos" panose="020B0004020202020204" pitchFamily="34" charset="0"/>
              </a:rPr>
              <a:t>• There is also a risk of forgetting to stop a VM.</a:t>
            </a:r>
          </a:p>
          <a:p>
            <a:pPr>
              <a:spcAft>
                <a:spcPts val="800"/>
              </a:spcAft>
            </a:pPr>
            <a:r>
              <a:rPr lang="en-US" sz="2100">
                <a:latin typeface="Aptos" panose="020B0004020202020204" pitchFamily="34" charset="0"/>
              </a:rPr>
              <a:t>• A scheduled automation system is needed to handle this automatically.</a:t>
            </a:r>
          </a:p>
          <a:p>
            <a:pPr>
              <a:spcAft>
                <a:spcPts val="800"/>
              </a:spcAft>
            </a:pPr>
            <a:endParaRPr lang="en-IN" sz="210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00571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8752375-518E-6A68-05F3-E5CE2C36DB76}"/>
              </a:ext>
            </a:extLst>
          </p:cNvPr>
          <p:cNvSpPr txBox="1"/>
          <p:nvPr/>
        </p:nvSpPr>
        <p:spPr>
          <a:xfrm>
            <a:off x="698500" y="381000"/>
            <a:ext cx="10795000" cy="507831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IN" sz="3000" b="1">
                <a:latin typeface="Aptos Display" panose="020B0004020202020204" pitchFamily="34" charset="0"/>
              </a:rPr>
              <a:t>Motivation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670FF0-B7D5-4FE8-3984-615C2F72F1FC}"/>
              </a:ext>
            </a:extLst>
          </p:cNvPr>
          <p:cNvSpPr txBox="1"/>
          <p:nvPr/>
        </p:nvSpPr>
        <p:spPr>
          <a:xfrm>
            <a:off x="952500" y="1587500"/>
            <a:ext cx="10414000" cy="2626360"/>
          </a:xfrm>
          <a:prstGeom prst="rect">
            <a:avLst/>
          </a:prstGeom>
          <a:noFill/>
        </p:spPr>
        <p:txBody>
          <a:bodyPr vert="horz" lIns="127000" tIns="127000" rIns="127000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 sz="2100">
                <a:latin typeface="Aptos" panose="020B0004020202020204" pitchFamily="34" charset="0"/>
              </a:rPr>
              <a:t>• Cloud resources are charged based on their usage.</a:t>
            </a:r>
          </a:p>
          <a:p>
            <a:pPr>
              <a:spcAft>
                <a:spcPts val="800"/>
              </a:spcAft>
            </a:pPr>
            <a:r>
              <a:rPr lang="en-US" sz="2100">
                <a:latin typeface="Aptos" panose="020B0004020202020204" pitchFamily="34" charset="0"/>
              </a:rPr>
              <a:t>• Test and development VMs may remain idle for many hours.</a:t>
            </a:r>
          </a:p>
          <a:p>
            <a:pPr>
              <a:spcAft>
                <a:spcPts val="800"/>
              </a:spcAft>
            </a:pPr>
            <a:r>
              <a:rPr lang="en-US" sz="2100">
                <a:latin typeface="Aptos" panose="020B0004020202020204" pitchFamily="34" charset="0"/>
              </a:rPr>
              <a:t>• Automating their schedule can reduce unnecessary costs.</a:t>
            </a:r>
          </a:p>
          <a:p>
            <a:pPr>
              <a:spcAft>
                <a:spcPts val="800"/>
              </a:spcAft>
            </a:pPr>
            <a:r>
              <a:rPr lang="en-US" sz="2100">
                <a:latin typeface="Aptos" panose="020B0004020202020204" pitchFamily="34" charset="0"/>
              </a:rPr>
              <a:t>• We selected this project to understand Azure Automation and cloud cost optimization.</a:t>
            </a:r>
          </a:p>
          <a:p>
            <a:pPr>
              <a:spcAft>
                <a:spcPts val="800"/>
              </a:spcAft>
            </a:pPr>
            <a:r>
              <a:rPr lang="en-US" sz="2100">
                <a:latin typeface="Aptos" panose="020B0004020202020204" pitchFamily="34" charset="0"/>
              </a:rPr>
              <a:t>• It also shows how routine cloud tasks can be automated.</a:t>
            </a:r>
          </a:p>
          <a:p>
            <a:pPr>
              <a:spcAft>
                <a:spcPts val="800"/>
              </a:spcAft>
            </a:pPr>
            <a:endParaRPr lang="en-IN" sz="210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52014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1C5AA3-FBB8-BB60-4229-68525DDB73EC}"/>
              </a:ext>
            </a:extLst>
          </p:cNvPr>
          <p:cNvSpPr txBox="1"/>
          <p:nvPr/>
        </p:nvSpPr>
        <p:spPr>
          <a:xfrm>
            <a:off x="698500" y="381000"/>
            <a:ext cx="10795000" cy="507831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IN" sz="3000" b="1">
                <a:latin typeface="Aptos Display" panose="020B0004020202020204" pitchFamily="34" charset="0"/>
              </a:rPr>
              <a:t>Objectives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13412E-E978-F2FA-2FA9-69F7F2BDD3FB}"/>
              </a:ext>
            </a:extLst>
          </p:cNvPr>
          <p:cNvSpPr txBox="1"/>
          <p:nvPr/>
        </p:nvSpPr>
        <p:spPr>
          <a:xfrm>
            <a:off x="889000" y="1651000"/>
            <a:ext cx="4826000" cy="1143903"/>
          </a:xfrm>
          <a:prstGeom prst="rect">
            <a:avLst/>
          </a:prstGeom>
          <a:noFill/>
        </p:spPr>
        <p:txBody>
          <a:bodyPr vert="horz" lIns="127000" tIns="127000" rtlCol="0">
            <a:spAutoFit/>
          </a:bodyPr>
          <a:lstStyle/>
          <a:p>
            <a:r>
              <a:rPr lang="en-US" sz="2100" b="1">
                <a:latin typeface="Aptos" panose="020B0004020202020204" pitchFamily="34" charset="0"/>
              </a:rPr>
              <a:t>Main Objective</a:t>
            </a:r>
          </a:p>
          <a:p>
            <a:r>
              <a:rPr lang="en-US" sz="2100">
                <a:latin typeface="Aptos" panose="020B0004020202020204" pitchFamily="34" charset="0"/>
              </a:rPr>
              <a:t>• To automate the starting and stopping of Azure VMs using Runbooks.</a:t>
            </a:r>
            <a:endParaRPr lang="en-IN" sz="2100">
              <a:latin typeface="Aptos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67F458-809A-B9CA-C003-8D29E41E3D5D}"/>
              </a:ext>
            </a:extLst>
          </p:cNvPr>
          <p:cNvSpPr txBox="1"/>
          <p:nvPr/>
        </p:nvSpPr>
        <p:spPr>
          <a:xfrm>
            <a:off x="6223000" y="1651000"/>
            <a:ext cx="5080000" cy="2805896"/>
          </a:xfrm>
          <a:prstGeom prst="rect">
            <a:avLst/>
          </a:prstGeom>
          <a:noFill/>
        </p:spPr>
        <p:txBody>
          <a:bodyPr vert="horz" lIns="127000" tIns="127000" rtlCol="0">
            <a:spAutoFit/>
          </a:bodyPr>
          <a:lstStyle/>
          <a:p>
            <a:r>
              <a:rPr lang="en-US" sz="1900" b="1">
                <a:latin typeface="Aptos" panose="020B0004020202020204" pitchFamily="34" charset="0"/>
              </a:rPr>
              <a:t>Specific Objectives</a:t>
            </a:r>
          </a:p>
          <a:p>
            <a:r>
              <a:rPr lang="en-US" sz="1900">
                <a:latin typeface="Aptos" panose="020B0004020202020204" pitchFamily="34" charset="0"/>
              </a:rPr>
              <a:t>• Start VMs at the required time.</a:t>
            </a:r>
          </a:p>
          <a:p>
            <a:r>
              <a:rPr lang="en-US" sz="1900">
                <a:latin typeface="Aptos" panose="020B0004020202020204" pitchFamily="34" charset="0"/>
              </a:rPr>
              <a:t>• Stop non-production VMs after working hours.</a:t>
            </a:r>
          </a:p>
          <a:p>
            <a:r>
              <a:rPr lang="en-US" sz="1900">
                <a:latin typeface="Aptos" panose="020B0004020202020204" pitchFamily="34" charset="0"/>
              </a:rPr>
              <a:t>• Schedule the automation process.</a:t>
            </a:r>
          </a:p>
          <a:p>
            <a:r>
              <a:rPr lang="en-US" sz="1900">
                <a:latin typeface="Aptos" panose="020B0004020202020204" pitchFamily="34" charset="0"/>
              </a:rPr>
              <a:t>• Reduce unnecessary VM running costs.</a:t>
            </a:r>
          </a:p>
          <a:p>
            <a:r>
              <a:rPr lang="en-US" sz="1900">
                <a:latin typeface="Aptos" panose="020B0004020202020204" pitchFamily="34" charset="0"/>
              </a:rPr>
              <a:t>• Monitor runbook failures and generate alerts.</a:t>
            </a:r>
          </a:p>
          <a:p>
            <a:r>
              <a:rPr lang="en-US" sz="1900">
                <a:latin typeface="Aptos" panose="020B0004020202020204" pitchFamily="34" charset="0"/>
              </a:rPr>
              <a:t>• Use managed identity with required permissions.</a:t>
            </a:r>
            <a:endParaRPr lang="en-IN" sz="190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9365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81175D5-48D8-5044-E0C0-6DB2E7395195}"/>
              </a:ext>
            </a:extLst>
          </p:cNvPr>
          <p:cNvSpPr txBox="1"/>
          <p:nvPr/>
        </p:nvSpPr>
        <p:spPr>
          <a:xfrm>
            <a:off x="698500" y="381000"/>
            <a:ext cx="10795000" cy="507831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IN" sz="3000" b="1">
                <a:latin typeface="Aptos Display" panose="020B0004020202020204" pitchFamily="34" charset="0"/>
              </a:rPr>
              <a:t>Existing System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EF3206-80AC-AB4E-1BA0-A6B9FA9C1916}"/>
              </a:ext>
            </a:extLst>
          </p:cNvPr>
          <p:cNvSpPr txBox="1"/>
          <p:nvPr/>
        </p:nvSpPr>
        <p:spPr>
          <a:xfrm>
            <a:off x="762000" y="1651000"/>
            <a:ext cx="5080000" cy="203132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100" b="1">
                <a:latin typeface="Aptos" panose="020B0004020202020204" pitchFamily="34" charset="0"/>
              </a:rPr>
              <a:t>Current Approach</a:t>
            </a:r>
          </a:p>
          <a:p>
            <a:r>
              <a:rPr lang="en-US" sz="2100">
                <a:latin typeface="Aptos" panose="020B0004020202020204" pitchFamily="34" charset="0"/>
              </a:rPr>
              <a:t>• VMs are started and stopped manually.</a:t>
            </a:r>
          </a:p>
          <a:p>
            <a:r>
              <a:rPr lang="en-US" sz="2100">
                <a:latin typeface="Aptos" panose="020B0004020202020204" pitchFamily="34" charset="0"/>
              </a:rPr>
              <a:t>• Users have to remember the required timings.</a:t>
            </a:r>
          </a:p>
          <a:p>
            <a:r>
              <a:rPr lang="en-US" sz="2100">
                <a:latin typeface="Aptos" panose="020B0004020202020204" pitchFamily="34" charset="0"/>
              </a:rPr>
              <a:t>• Some VMs may remain running after working hours.</a:t>
            </a:r>
            <a:endParaRPr lang="en-IN" sz="2100">
              <a:latin typeface="Aptos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340811-D64B-2FCD-76C6-F261C085683E}"/>
              </a:ext>
            </a:extLst>
          </p:cNvPr>
          <p:cNvSpPr txBox="1"/>
          <p:nvPr/>
        </p:nvSpPr>
        <p:spPr>
          <a:xfrm>
            <a:off x="6350000" y="1651000"/>
            <a:ext cx="4826000" cy="235449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100" b="1">
                <a:latin typeface="Aptos" panose="020B0004020202020204" pitchFamily="34" charset="0"/>
              </a:rPr>
              <a:t>Limitations</a:t>
            </a:r>
          </a:p>
          <a:p>
            <a:r>
              <a:rPr lang="en-US" sz="2100">
                <a:latin typeface="Aptos" panose="020B0004020202020204" pitchFamily="34" charset="0"/>
              </a:rPr>
              <a:t>• Manual effort is required.</a:t>
            </a:r>
          </a:p>
          <a:p>
            <a:r>
              <a:rPr lang="en-US" sz="2100">
                <a:latin typeface="Aptos" panose="020B0004020202020204" pitchFamily="34" charset="0"/>
              </a:rPr>
              <a:t>• Human mistakes can occur.</a:t>
            </a:r>
          </a:p>
          <a:p>
            <a:r>
              <a:rPr lang="en-US" sz="2100">
                <a:latin typeface="Aptos" panose="020B0004020202020204" pitchFamily="34" charset="0"/>
              </a:rPr>
              <a:t>• VMs may be left running.</a:t>
            </a:r>
          </a:p>
          <a:p>
            <a:r>
              <a:rPr lang="en-US" sz="2100">
                <a:latin typeface="Aptos" panose="020B0004020202020204" pitchFamily="34" charset="0"/>
              </a:rPr>
              <a:t>• Cloud costs can increase.</a:t>
            </a:r>
          </a:p>
          <a:p>
            <a:r>
              <a:rPr lang="en-US" sz="2100">
                <a:latin typeface="Aptos" panose="020B0004020202020204" pitchFamily="34" charset="0"/>
              </a:rPr>
              <a:t>• Failures may not be noticed immediately.</a:t>
            </a:r>
            <a:endParaRPr lang="en-IN" sz="210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95323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AC82491-D4BD-5F2C-524F-20D86481E4F3}"/>
              </a:ext>
            </a:extLst>
          </p:cNvPr>
          <p:cNvSpPr txBox="1"/>
          <p:nvPr/>
        </p:nvSpPr>
        <p:spPr>
          <a:xfrm>
            <a:off x="698500" y="381000"/>
            <a:ext cx="10795000" cy="507831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IN" sz="3000" b="1">
                <a:latin typeface="Aptos Display" panose="020B0004020202020204" pitchFamily="34" charset="0"/>
              </a:rPr>
              <a:t>Proposed System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E75D1A-6BF8-9036-9DDD-9E3C83E75F9D}"/>
              </a:ext>
            </a:extLst>
          </p:cNvPr>
          <p:cNvSpPr txBox="1"/>
          <p:nvPr/>
        </p:nvSpPr>
        <p:spPr>
          <a:xfrm>
            <a:off x="762000" y="1587500"/>
            <a:ext cx="5334000" cy="243143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900" b="1">
                <a:latin typeface="Aptos" panose="020B0004020202020204" pitchFamily="34" charset="0"/>
              </a:rPr>
              <a:t>Proposed Solution</a:t>
            </a:r>
          </a:p>
          <a:p>
            <a:r>
              <a:rPr lang="en-US" sz="1900">
                <a:latin typeface="Aptos" panose="020B0004020202020204" pitchFamily="34" charset="0"/>
              </a:rPr>
              <a:t>• Create Azure Automation Runbooks.</a:t>
            </a:r>
          </a:p>
          <a:p>
            <a:r>
              <a:rPr lang="en-US" sz="1900">
                <a:latin typeface="Aptos" panose="020B0004020202020204" pitchFamily="34" charset="0"/>
              </a:rPr>
              <a:t>• Assign schedules for VM start and stop operations.</a:t>
            </a:r>
          </a:p>
          <a:p>
            <a:r>
              <a:rPr lang="en-US" sz="1900">
                <a:latin typeface="Aptos" panose="020B0004020202020204" pitchFamily="34" charset="0"/>
              </a:rPr>
              <a:t>• Use managed identity for authentication.</a:t>
            </a:r>
          </a:p>
          <a:p>
            <a:r>
              <a:rPr lang="en-US" sz="1900">
                <a:latin typeface="Aptos" panose="020B0004020202020204" pitchFamily="34" charset="0"/>
              </a:rPr>
              <a:t>• Runbooks perform VM operations automatically.</a:t>
            </a:r>
          </a:p>
          <a:p>
            <a:r>
              <a:rPr lang="en-US" sz="1900">
                <a:latin typeface="Aptos" panose="020B0004020202020204" pitchFamily="34" charset="0"/>
              </a:rPr>
              <a:t>• Configure alerts for runbook failures.</a:t>
            </a:r>
            <a:endParaRPr lang="en-IN" sz="1900">
              <a:latin typeface="Aptos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70A20D-C309-7B17-E414-2C65A3ACE512}"/>
              </a:ext>
            </a:extLst>
          </p:cNvPr>
          <p:cNvSpPr txBox="1"/>
          <p:nvPr/>
        </p:nvSpPr>
        <p:spPr>
          <a:xfrm>
            <a:off x="6350000" y="1587500"/>
            <a:ext cx="4826000" cy="203132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100" b="1">
                <a:latin typeface="Aptos" panose="020B0004020202020204" pitchFamily="34" charset="0"/>
              </a:rPr>
              <a:t>Advantages</a:t>
            </a:r>
          </a:p>
          <a:p>
            <a:r>
              <a:rPr lang="en-US" sz="2100">
                <a:latin typeface="Aptos" panose="020B0004020202020204" pitchFamily="34" charset="0"/>
              </a:rPr>
              <a:t>• Less manual work</a:t>
            </a:r>
          </a:p>
          <a:p>
            <a:r>
              <a:rPr lang="en-US" sz="2100">
                <a:latin typeface="Aptos" panose="020B0004020202020204" pitchFamily="34" charset="0"/>
              </a:rPr>
              <a:t>• Better VM scheduling</a:t>
            </a:r>
          </a:p>
          <a:p>
            <a:r>
              <a:rPr lang="en-US" sz="2100">
                <a:latin typeface="Aptos" panose="020B0004020202020204" pitchFamily="34" charset="0"/>
              </a:rPr>
              <a:t>• Reduced unnecessary cost</a:t>
            </a:r>
          </a:p>
          <a:p>
            <a:r>
              <a:rPr lang="en-US" sz="2100">
                <a:latin typeface="Aptos" panose="020B0004020202020204" pitchFamily="34" charset="0"/>
              </a:rPr>
              <a:t>• Centralized automation</a:t>
            </a:r>
          </a:p>
          <a:p>
            <a:r>
              <a:rPr lang="en-US" sz="2100">
                <a:latin typeface="Aptos" panose="020B0004020202020204" pitchFamily="34" charset="0"/>
              </a:rPr>
              <a:t>• Failure monitoring</a:t>
            </a:r>
            <a:endParaRPr lang="en-IN" sz="210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02540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06C42D4-DA7E-F762-5891-03C0C2016353}"/>
              </a:ext>
            </a:extLst>
          </p:cNvPr>
          <p:cNvSpPr txBox="1"/>
          <p:nvPr/>
        </p:nvSpPr>
        <p:spPr>
          <a:xfrm>
            <a:off x="698500" y="381000"/>
            <a:ext cx="10795000" cy="507831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IN" sz="3000" b="1">
                <a:latin typeface="Aptos Display" panose="020B0004020202020204" pitchFamily="34" charset="0"/>
              </a:rPr>
              <a:t>Literature Survey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23733D0-558C-7491-5E3B-11273BEA18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88304"/>
              </p:ext>
            </p:extLst>
          </p:nvPr>
        </p:nvGraphicFramePr>
        <p:xfrm>
          <a:off x="508000" y="1397000"/>
          <a:ext cx="11175999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25333">
                  <a:extLst>
                    <a:ext uri="{9D8B030D-6E8A-4147-A177-3AD203B41FA5}">
                      <a16:colId xmlns:a16="http://schemas.microsoft.com/office/drawing/2014/main" val="216688143"/>
                    </a:ext>
                  </a:extLst>
                </a:gridCol>
                <a:gridCol w="3725333">
                  <a:extLst>
                    <a:ext uri="{9D8B030D-6E8A-4147-A177-3AD203B41FA5}">
                      <a16:colId xmlns:a16="http://schemas.microsoft.com/office/drawing/2014/main" val="4184688288"/>
                    </a:ext>
                  </a:extLst>
                </a:gridCol>
                <a:gridCol w="3725333">
                  <a:extLst>
                    <a:ext uri="{9D8B030D-6E8A-4147-A177-3AD203B41FA5}">
                      <a16:colId xmlns:a16="http://schemas.microsoft.com/office/drawing/2014/main" val="4174503787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r>
                        <a:rPr lang="en-IN" sz="1400" b="1">
                          <a:latin typeface="Aptos" panose="020B0004020202020204" pitchFamily="34" charset="0"/>
                        </a:rPr>
                        <a:t>Paper / Project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1">
                          <a:latin typeface="Aptos" panose="020B0004020202020204" pitchFamily="34" charset="0"/>
                        </a:rPr>
                        <a:t>Main Focus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1">
                          <a:latin typeface="Aptos" panose="020B0004020202020204" pitchFamily="34" charset="0"/>
                        </a:rPr>
                        <a:t>Key Finding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889018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lang="en-IN" sz="1400">
                          <a:latin typeface="Aptos" panose="020B0004020202020204" pitchFamily="34" charset="0"/>
                        </a:rPr>
                        <a:t>Paper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Aptos" panose="020B0004020202020204" pitchFamily="34" charset="0"/>
                        </a:rPr>
                        <a:t>Cloud resource scheduling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Aptos" panose="020B0004020202020204" pitchFamily="34" charset="0"/>
                        </a:rPr>
                        <a:t>Scheduling can reduce resource wastage</a:t>
                      </a:r>
                      <a:endParaRPr lang="en-IN" sz="140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6870877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lang="en-IN" sz="1400">
                          <a:latin typeface="Aptos" panose="020B0004020202020204" pitchFamily="34" charset="0"/>
                        </a:rPr>
                        <a:t>Paper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Aptos" panose="020B0004020202020204" pitchFamily="34" charset="0"/>
                        </a:rPr>
                        <a:t>Cloud cost optimization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Aptos" panose="020B0004020202020204" pitchFamily="34" charset="0"/>
                        </a:rPr>
                        <a:t>Unused resources increase cloud costs</a:t>
                      </a:r>
                      <a:endParaRPr lang="en-IN" sz="140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0848749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lang="en-IN" sz="1400">
                          <a:latin typeface="Aptos" panose="020B0004020202020204" pitchFamily="34" charset="0"/>
                        </a:rPr>
                        <a:t>Paper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Aptos" panose="020B0004020202020204" pitchFamily="34" charset="0"/>
                        </a:rPr>
                        <a:t>VM automation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Aptos" panose="020B0004020202020204" pitchFamily="34" charset="0"/>
                        </a:rPr>
                        <a:t>Automation reduces manual operations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4303579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lang="en-IN" sz="1400">
                          <a:latin typeface="Aptos" panose="020B0004020202020204" pitchFamily="34" charset="0"/>
                        </a:rPr>
                        <a:t>Paper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Aptos" panose="020B0004020202020204" pitchFamily="34" charset="0"/>
                        </a:rPr>
                        <a:t>Cloud resource management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Aptos" panose="020B0004020202020204" pitchFamily="34" charset="0"/>
                        </a:rPr>
                        <a:t>Resources can be managed based on usage</a:t>
                      </a:r>
                      <a:endParaRPr lang="en-IN" sz="140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226865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lang="en-IN" sz="1400">
                          <a:latin typeface="Aptos" panose="020B0004020202020204" pitchFamily="34" charset="0"/>
                        </a:rPr>
                        <a:t>Paper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Aptos" panose="020B0004020202020204" pitchFamily="34" charset="0"/>
                        </a:rPr>
                        <a:t>Cloud security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Aptos" panose="020B0004020202020204" pitchFamily="34" charset="0"/>
                        </a:rPr>
                        <a:t>Least-privilege access improves security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888197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E76EB916-E554-27E0-1DC8-33C73160A539}"/>
              </a:ext>
            </a:extLst>
          </p:cNvPr>
          <p:cNvSpPr txBox="1"/>
          <p:nvPr/>
        </p:nvSpPr>
        <p:spPr>
          <a:xfrm>
            <a:off x="762000" y="5143500"/>
            <a:ext cx="10414000" cy="92333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b="1">
                <a:latin typeface="Aptos" panose="020B0004020202020204" pitchFamily="34" charset="0"/>
              </a:rPr>
              <a:t>Research Gap</a:t>
            </a:r>
          </a:p>
          <a:p>
            <a:r>
              <a:rPr lang="en-US">
                <a:latin typeface="Aptos" panose="020B0004020202020204" pitchFamily="34" charset="0"/>
              </a:rPr>
              <a:t>• Existing work focuses mainly on scheduling and cost optimization.</a:t>
            </a:r>
          </a:p>
          <a:p>
            <a:r>
              <a:rPr lang="en-US">
                <a:latin typeface="Aptos" panose="020B0004020202020204" pitchFamily="34" charset="0"/>
              </a:rPr>
              <a:t>• Our project combines VM scheduling, cost reduction, failure alerting and secure permissions.</a:t>
            </a:r>
            <a:endParaRPr lang="en-IN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93765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93ED527-E77C-7D6C-CDB3-3B03490F0D81}"/>
              </a:ext>
            </a:extLst>
          </p:cNvPr>
          <p:cNvSpPr txBox="1"/>
          <p:nvPr/>
        </p:nvSpPr>
        <p:spPr>
          <a:xfrm>
            <a:off x="698500" y="381000"/>
            <a:ext cx="10795000" cy="507831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IN" sz="3000" b="1">
                <a:latin typeface="Aptos Display" panose="020B0004020202020204" pitchFamily="34" charset="0"/>
              </a:rPr>
              <a:t>Methodology / Workflow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15BE3CF-E902-56CC-9249-7DDE1E35F350}"/>
              </a:ext>
            </a:extLst>
          </p:cNvPr>
          <p:cNvSpPr/>
          <p:nvPr/>
        </p:nvSpPr>
        <p:spPr>
          <a:xfrm>
            <a:off x="317500" y="2349500"/>
            <a:ext cx="1651000" cy="8255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500">
                <a:latin typeface="Aptos" panose="020B0004020202020204" pitchFamily="34" charset="0"/>
              </a:rPr>
              <a:t>Schedule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FFB1F88-3FFE-C931-0EE8-9F283A215E15}"/>
              </a:ext>
            </a:extLst>
          </p:cNvPr>
          <p:cNvSpPr/>
          <p:nvPr/>
        </p:nvSpPr>
        <p:spPr>
          <a:xfrm>
            <a:off x="2159000" y="2349500"/>
            <a:ext cx="1651000" cy="8255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500">
                <a:latin typeface="Aptos" panose="020B0004020202020204" pitchFamily="34" charset="0"/>
              </a:rPr>
              <a:t>Runbook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FAB54C1-3BBC-D032-B327-E37F5F5A972B}"/>
              </a:ext>
            </a:extLst>
          </p:cNvPr>
          <p:cNvSpPr/>
          <p:nvPr/>
        </p:nvSpPr>
        <p:spPr>
          <a:xfrm>
            <a:off x="4000500" y="2349500"/>
            <a:ext cx="1651000" cy="8255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500">
                <a:latin typeface="Aptos" panose="020B0004020202020204" pitchFamily="34" charset="0"/>
              </a:rPr>
              <a:t>Managed Identity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897A398-72C8-642B-5CCC-81E6877D52AA}"/>
              </a:ext>
            </a:extLst>
          </p:cNvPr>
          <p:cNvSpPr/>
          <p:nvPr/>
        </p:nvSpPr>
        <p:spPr>
          <a:xfrm>
            <a:off x="5842000" y="2349500"/>
            <a:ext cx="1651000" cy="8255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500">
                <a:latin typeface="Aptos" panose="020B0004020202020204" pitchFamily="34" charset="0"/>
              </a:rPr>
              <a:t>Azure VM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B571CA2-BB73-BB63-BC78-2AD0EDB53B01}"/>
              </a:ext>
            </a:extLst>
          </p:cNvPr>
          <p:cNvSpPr/>
          <p:nvPr/>
        </p:nvSpPr>
        <p:spPr>
          <a:xfrm>
            <a:off x="7683500" y="2349500"/>
            <a:ext cx="1651000" cy="8255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500">
                <a:latin typeface="Aptos" panose="020B0004020202020204" pitchFamily="34" charset="0"/>
              </a:rPr>
              <a:t>Start / Stop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CBB0BD8-CEBE-E7A4-7753-7D01DA73D0C0}"/>
              </a:ext>
            </a:extLst>
          </p:cNvPr>
          <p:cNvSpPr/>
          <p:nvPr/>
        </p:nvSpPr>
        <p:spPr>
          <a:xfrm>
            <a:off x="9525000" y="2349500"/>
            <a:ext cx="1651000" cy="8255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500">
                <a:latin typeface="Aptos" panose="020B0004020202020204" pitchFamily="34" charset="0"/>
              </a:rPr>
              <a:t>Monitoring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CADBDD6-C42D-4179-62E4-910251BB8D20}"/>
              </a:ext>
            </a:extLst>
          </p:cNvPr>
          <p:cNvSpPr txBox="1"/>
          <p:nvPr/>
        </p:nvSpPr>
        <p:spPr>
          <a:xfrm>
            <a:off x="889000" y="3683000"/>
            <a:ext cx="10414000" cy="213904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900" b="1">
                <a:latin typeface="Aptos" panose="020B0004020202020204" pitchFamily="34" charset="0"/>
              </a:rPr>
              <a:t>Steps</a:t>
            </a:r>
          </a:p>
          <a:p>
            <a:r>
              <a:rPr lang="en-US" sz="1900">
                <a:latin typeface="Aptos" panose="020B0004020202020204" pitchFamily="34" charset="0"/>
              </a:rPr>
              <a:t>1. Create the required Azure VMs.</a:t>
            </a:r>
          </a:p>
          <a:p>
            <a:r>
              <a:rPr lang="en-US" sz="1900">
                <a:latin typeface="Aptos" panose="020B0004020202020204" pitchFamily="34" charset="0"/>
              </a:rPr>
              <a:t>2. Create an Automation Account.</a:t>
            </a:r>
          </a:p>
          <a:p>
            <a:r>
              <a:rPr lang="en-US" sz="1900">
                <a:latin typeface="Aptos" panose="020B0004020202020204" pitchFamily="34" charset="0"/>
              </a:rPr>
              <a:t>3. Create the Runbooks.</a:t>
            </a:r>
          </a:p>
          <a:p>
            <a:r>
              <a:rPr lang="en-US" sz="1900">
                <a:latin typeface="Aptos" panose="020B0004020202020204" pitchFamily="34" charset="0"/>
              </a:rPr>
              <a:t>4. Assign managed identity permissions.</a:t>
            </a:r>
          </a:p>
          <a:p>
            <a:r>
              <a:rPr lang="en-US" sz="1900">
                <a:latin typeface="Aptos" panose="020B0004020202020204" pitchFamily="34" charset="0"/>
              </a:rPr>
              <a:t>5. Create start and stop schedules.</a:t>
            </a:r>
          </a:p>
          <a:p>
            <a:r>
              <a:rPr lang="en-US" sz="1900">
                <a:latin typeface="Aptos" panose="020B0004020202020204" pitchFamily="34" charset="0"/>
              </a:rPr>
              <a:t>6. Monitor execution and failures.</a:t>
            </a:r>
            <a:endParaRPr lang="en-IN" sz="190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96059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A251CC5-B819-BC28-C9D8-179E41B26F95}"/>
              </a:ext>
            </a:extLst>
          </p:cNvPr>
          <p:cNvSpPr txBox="1"/>
          <p:nvPr/>
        </p:nvSpPr>
        <p:spPr>
          <a:xfrm>
            <a:off x="698500" y="381000"/>
            <a:ext cx="10795000" cy="507831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IN" sz="3000" b="1">
                <a:latin typeface="Aptos Display" panose="020B0004020202020204" pitchFamily="34" charset="0"/>
              </a:rPr>
              <a:t>Technologies Used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08B4C73-CADA-A375-7392-C88AE6CF18D5}"/>
              </a:ext>
            </a:extLst>
          </p:cNvPr>
          <p:cNvSpPr txBox="1"/>
          <p:nvPr/>
        </p:nvSpPr>
        <p:spPr>
          <a:xfrm>
            <a:off x="1270000" y="1587500"/>
            <a:ext cx="9525000" cy="378565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000" b="1">
                <a:latin typeface="Aptos" panose="020B0004020202020204" pitchFamily="34" charset="0"/>
              </a:rPr>
              <a:t>Azure Services</a:t>
            </a:r>
          </a:p>
          <a:p>
            <a:r>
              <a:rPr lang="en-IN" sz="2000">
                <a:latin typeface="Aptos" panose="020B0004020202020204" pitchFamily="34" charset="0"/>
              </a:rPr>
              <a:t>• Azure Virtual Machines</a:t>
            </a:r>
          </a:p>
          <a:p>
            <a:r>
              <a:rPr lang="en-IN" sz="2000">
                <a:latin typeface="Aptos" panose="020B0004020202020204" pitchFamily="34" charset="0"/>
              </a:rPr>
              <a:t>• Azure Automation</a:t>
            </a:r>
          </a:p>
          <a:p>
            <a:r>
              <a:rPr lang="en-IN" sz="2000">
                <a:latin typeface="Aptos" panose="020B0004020202020204" pitchFamily="34" charset="0"/>
              </a:rPr>
              <a:t>• Automation Runbooks</a:t>
            </a:r>
          </a:p>
          <a:p>
            <a:r>
              <a:rPr lang="en-IN" sz="2000">
                <a:latin typeface="Aptos" panose="020B0004020202020204" pitchFamily="34" charset="0"/>
              </a:rPr>
              <a:t>• Managed Identity</a:t>
            </a:r>
          </a:p>
          <a:p>
            <a:r>
              <a:rPr lang="en-IN" sz="2000">
                <a:latin typeface="Aptos" panose="020B0004020202020204" pitchFamily="34" charset="0"/>
              </a:rPr>
              <a:t>• Azure Monitor / Alerts</a:t>
            </a:r>
          </a:p>
          <a:p>
            <a:endParaRPr lang="en-IN" sz="2000">
              <a:latin typeface="Aptos" panose="020B0004020202020204" pitchFamily="34" charset="0"/>
            </a:endParaRPr>
          </a:p>
          <a:p>
            <a:r>
              <a:rPr lang="en-IN" sz="2000">
                <a:latin typeface="Aptos" panose="020B0004020202020204" pitchFamily="34" charset="0"/>
              </a:rPr>
              <a:t>Other Concepts</a:t>
            </a:r>
          </a:p>
          <a:p>
            <a:r>
              <a:rPr lang="en-IN" sz="2000">
                <a:latin typeface="Aptos" panose="020B0004020202020204" pitchFamily="34" charset="0"/>
              </a:rPr>
              <a:t>• PowerShell</a:t>
            </a:r>
          </a:p>
          <a:p>
            <a:r>
              <a:rPr lang="en-IN" sz="2000">
                <a:latin typeface="Aptos" panose="020B0004020202020204" pitchFamily="34" charset="0"/>
              </a:rPr>
              <a:t>• Scheduling</a:t>
            </a:r>
          </a:p>
          <a:p>
            <a:r>
              <a:rPr lang="en-IN" sz="2000">
                <a:latin typeface="Aptos" panose="020B0004020202020204" pitchFamily="34" charset="0"/>
              </a:rPr>
              <a:t>• Role-Based Access Control (RBAC)</a:t>
            </a:r>
          </a:p>
          <a:p>
            <a:r>
              <a:rPr lang="en-IN" sz="2000">
                <a:latin typeface="Aptos" panose="020B0004020202020204" pitchFamily="34" charset="0"/>
              </a:rPr>
              <a:t>• Cloud cost optimization</a:t>
            </a:r>
          </a:p>
        </p:txBody>
      </p:sp>
    </p:spTree>
    <p:extLst>
      <p:ext uri="{BB962C8B-B14F-4D97-AF65-F5344CB8AC3E}">
        <p14:creationId xmlns:p14="http://schemas.microsoft.com/office/powerpoint/2010/main" val="16842745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21AE686-575A-C776-7376-68945241BC2C}"/>
              </a:ext>
            </a:extLst>
          </p:cNvPr>
          <p:cNvSpPr txBox="1"/>
          <p:nvPr/>
        </p:nvSpPr>
        <p:spPr>
          <a:xfrm>
            <a:off x="698500" y="381000"/>
            <a:ext cx="10795000" cy="507831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IN" sz="3000" b="1">
                <a:latin typeface="Aptos Display" panose="020B0004020202020204" pitchFamily="34" charset="0"/>
              </a:rPr>
              <a:t>Module Description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E689AD-3887-D5E1-95ED-0D6C22404B2A}"/>
              </a:ext>
            </a:extLst>
          </p:cNvPr>
          <p:cNvSpPr txBox="1"/>
          <p:nvPr/>
        </p:nvSpPr>
        <p:spPr>
          <a:xfrm>
            <a:off x="825500" y="1397000"/>
            <a:ext cx="10541000" cy="397031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latin typeface="Aptos" panose="020B0004020202020204" pitchFamily="34" charset="0"/>
              </a:rPr>
              <a:t>1. VM Management Module</a:t>
            </a:r>
          </a:p>
          <a:p>
            <a:r>
              <a:rPr lang="en-US">
                <a:latin typeface="Aptos" panose="020B0004020202020204" pitchFamily="34" charset="0"/>
              </a:rPr>
              <a:t>   Manages the target Azure VMs.</a:t>
            </a:r>
          </a:p>
          <a:p>
            <a:endParaRPr lang="en-US">
              <a:latin typeface="Aptos" panose="020B0004020202020204" pitchFamily="34" charset="0"/>
            </a:endParaRPr>
          </a:p>
          <a:p>
            <a:r>
              <a:rPr lang="en-US">
                <a:latin typeface="Aptos" panose="020B0004020202020204" pitchFamily="34" charset="0"/>
              </a:rPr>
              <a:t>2. Runbook Module</a:t>
            </a:r>
          </a:p>
          <a:p>
            <a:r>
              <a:rPr lang="en-US">
                <a:latin typeface="Aptos" panose="020B0004020202020204" pitchFamily="34" charset="0"/>
              </a:rPr>
              <a:t>   Contains scripts for VM start and stop operations.</a:t>
            </a:r>
          </a:p>
          <a:p>
            <a:endParaRPr lang="en-US">
              <a:latin typeface="Aptos" panose="020B0004020202020204" pitchFamily="34" charset="0"/>
            </a:endParaRPr>
          </a:p>
          <a:p>
            <a:r>
              <a:rPr lang="en-US">
                <a:latin typeface="Aptos" panose="020B0004020202020204" pitchFamily="34" charset="0"/>
              </a:rPr>
              <a:t>3. Scheduling Module</a:t>
            </a:r>
          </a:p>
          <a:p>
            <a:r>
              <a:rPr lang="en-US">
                <a:latin typeface="Aptos" panose="020B0004020202020204" pitchFamily="34" charset="0"/>
              </a:rPr>
              <a:t>   Defines when VMs should start or stop.</a:t>
            </a:r>
          </a:p>
          <a:p>
            <a:endParaRPr lang="en-US">
              <a:latin typeface="Aptos" panose="020B0004020202020204" pitchFamily="34" charset="0"/>
            </a:endParaRPr>
          </a:p>
          <a:p>
            <a:r>
              <a:rPr lang="en-US">
                <a:latin typeface="Aptos" panose="020B0004020202020204" pitchFamily="34" charset="0"/>
              </a:rPr>
              <a:t>4. Authentication Module</a:t>
            </a:r>
          </a:p>
          <a:p>
            <a:r>
              <a:rPr lang="en-US">
                <a:latin typeface="Aptos" panose="020B0004020202020204" pitchFamily="34" charset="0"/>
              </a:rPr>
              <a:t>   Uses managed identity for secure access.</a:t>
            </a:r>
          </a:p>
          <a:p>
            <a:endParaRPr lang="en-US">
              <a:latin typeface="Aptos" panose="020B0004020202020204" pitchFamily="34" charset="0"/>
            </a:endParaRPr>
          </a:p>
          <a:p>
            <a:r>
              <a:rPr lang="en-US">
                <a:latin typeface="Aptos" panose="020B0004020202020204" pitchFamily="34" charset="0"/>
              </a:rPr>
              <a:t>5. Monitoring and Alert Module</a:t>
            </a:r>
          </a:p>
          <a:p>
            <a:r>
              <a:rPr lang="en-US">
                <a:latin typeface="Aptos" panose="020B0004020202020204" pitchFamily="34" charset="0"/>
              </a:rPr>
              <a:t>   Tracks executions and reports failures.</a:t>
            </a:r>
            <a:endParaRPr lang="en-IN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39059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7F81449-7AAA-F8EE-0B44-1F1A4A64567E}"/>
              </a:ext>
            </a:extLst>
          </p:cNvPr>
          <p:cNvSpPr txBox="1"/>
          <p:nvPr/>
        </p:nvSpPr>
        <p:spPr>
          <a:xfrm>
            <a:off x="698500" y="381000"/>
            <a:ext cx="10795000" cy="507831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IN" sz="3000" b="1">
                <a:latin typeface="Aptos Display" panose="020B0004020202020204" pitchFamily="34" charset="0"/>
              </a:rPr>
              <a:t>System Design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7EED107-B22C-B66D-D795-A382EC1B7852}"/>
              </a:ext>
            </a:extLst>
          </p:cNvPr>
          <p:cNvSpPr/>
          <p:nvPr/>
        </p:nvSpPr>
        <p:spPr>
          <a:xfrm>
            <a:off x="317500" y="2159000"/>
            <a:ext cx="1714500" cy="762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>
                <a:latin typeface="Aptos" panose="020B0004020202020204" pitchFamily="34" charset="0"/>
              </a:rPr>
              <a:t>Azure Automation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0B794C4-91F8-732D-8452-F0656A86FE62}"/>
              </a:ext>
            </a:extLst>
          </p:cNvPr>
          <p:cNvSpPr/>
          <p:nvPr/>
        </p:nvSpPr>
        <p:spPr>
          <a:xfrm>
            <a:off x="2159000" y="2159000"/>
            <a:ext cx="1714500" cy="762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>
                <a:latin typeface="Aptos" panose="020B0004020202020204" pitchFamily="34" charset="0"/>
              </a:rPr>
              <a:t>Runbook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CDEE1CB-643D-BB6C-1F48-23DE60B7BA6E}"/>
              </a:ext>
            </a:extLst>
          </p:cNvPr>
          <p:cNvSpPr/>
          <p:nvPr/>
        </p:nvSpPr>
        <p:spPr>
          <a:xfrm>
            <a:off x="4000500" y="2159000"/>
            <a:ext cx="1714500" cy="762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>
                <a:latin typeface="Aptos" panose="020B0004020202020204" pitchFamily="34" charset="0"/>
              </a:rPr>
              <a:t>Managed Identity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758627F-C6CF-4623-E4BA-37F9F4BA2234}"/>
              </a:ext>
            </a:extLst>
          </p:cNvPr>
          <p:cNvSpPr/>
          <p:nvPr/>
        </p:nvSpPr>
        <p:spPr>
          <a:xfrm>
            <a:off x="5842000" y="2159000"/>
            <a:ext cx="1714500" cy="762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>
                <a:latin typeface="Aptos" panose="020B0004020202020204" pitchFamily="34" charset="0"/>
              </a:rPr>
              <a:t>Azure VM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481D12E-E398-2F7A-8B2F-A86530855CBC}"/>
              </a:ext>
            </a:extLst>
          </p:cNvPr>
          <p:cNvSpPr/>
          <p:nvPr/>
        </p:nvSpPr>
        <p:spPr>
          <a:xfrm>
            <a:off x="7683500" y="2159000"/>
            <a:ext cx="1714500" cy="762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>
                <a:latin typeface="Aptos" panose="020B0004020202020204" pitchFamily="34" charset="0"/>
              </a:rPr>
              <a:t>Azure Monitor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0B0E426-2E9F-5A13-38C2-8EA4F61E6CA0}"/>
              </a:ext>
            </a:extLst>
          </p:cNvPr>
          <p:cNvSpPr/>
          <p:nvPr/>
        </p:nvSpPr>
        <p:spPr>
          <a:xfrm>
            <a:off x="9525000" y="2159000"/>
            <a:ext cx="1714500" cy="762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>
                <a:latin typeface="Aptos" panose="020B0004020202020204" pitchFamily="34" charset="0"/>
              </a:rPr>
              <a:t>Alert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177569-926B-F439-69CA-B923768922E9}"/>
              </a:ext>
            </a:extLst>
          </p:cNvPr>
          <p:cNvSpPr txBox="1"/>
          <p:nvPr/>
        </p:nvSpPr>
        <p:spPr>
          <a:xfrm>
            <a:off x="1016000" y="3683000"/>
            <a:ext cx="9906000" cy="224676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000" b="1">
                <a:latin typeface="Aptos" panose="020B0004020202020204" pitchFamily="34" charset="0"/>
              </a:rPr>
              <a:t>Main Actors</a:t>
            </a:r>
          </a:p>
          <a:p>
            <a:r>
              <a:rPr lang="en-US" sz="2000">
                <a:latin typeface="Aptos" panose="020B0004020202020204" pitchFamily="34" charset="0"/>
              </a:rPr>
              <a:t>• Administrator</a:t>
            </a:r>
          </a:p>
          <a:p>
            <a:r>
              <a:rPr lang="en-US" sz="2000">
                <a:latin typeface="Aptos" panose="020B0004020202020204" pitchFamily="34" charset="0"/>
              </a:rPr>
              <a:t>• Azure Automation</a:t>
            </a:r>
          </a:p>
          <a:p>
            <a:r>
              <a:rPr lang="en-US" sz="2000">
                <a:latin typeface="Aptos" panose="020B0004020202020204" pitchFamily="34" charset="0"/>
              </a:rPr>
              <a:t>• Azure VM</a:t>
            </a:r>
          </a:p>
          <a:p>
            <a:r>
              <a:rPr lang="en-US" sz="2000">
                <a:latin typeface="Aptos" panose="020B0004020202020204" pitchFamily="34" charset="0"/>
              </a:rPr>
              <a:t>• Azure Monitor</a:t>
            </a:r>
          </a:p>
          <a:p>
            <a:endParaRPr lang="en-US" sz="2000">
              <a:latin typeface="Aptos" panose="020B0004020202020204" pitchFamily="34" charset="0"/>
            </a:endParaRPr>
          </a:p>
          <a:p>
            <a:r>
              <a:rPr lang="en-US" sz="2000">
                <a:latin typeface="Aptos" panose="020B0004020202020204" pitchFamily="34" charset="0"/>
              </a:rPr>
              <a:t>Use Case: Schedule VM ? Start / Stop VM ? Monitor Result</a:t>
            </a:r>
            <a:endParaRPr lang="en-IN" sz="200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14665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77FF859-484B-F3EF-AB26-656E013EFBF5}"/>
              </a:ext>
            </a:extLst>
          </p:cNvPr>
          <p:cNvSpPr txBox="1"/>
          <p:nvPr/>
        </p:nvSpPr>
        <p:spPr>
          <a:xfrm>
            <a:off x="698500" y="381000"/>
            <a:ext cx="10795000" cy="507831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IN" sz="3000" b="1">
                <a:latin typeface="Aptos Display" panose="020B0004020202020204" pitchFamily="34" charset="0"/>
              </a:rPr>
              <a:t>Security Consideration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3C6DB1-7A86-883B-C41A-680490E9246D}"/>
              </a:ext>
            </a:extLst>
          </p:cNvPr>
          <p:cNvSpPr txBox="1"/>
          <p:nvPr/>
        </p:nvSpPr>
        <p:spPr>
          <a:xfrm>
            <a:off x="889000" y="1587500"/>
            <a:ext cx="10414000" cy="272382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900" b="1">
                <a:latin typeface="Aptos" panose="020B0004020202020204" pitchFamily="34" charset="0"/>
              </a:rPr>
              <a:t>Managed Identity</a:t>
            </a:r>
          </a:p>
          <a:p>
            <a:r>
              <a:rPr lang="en-US" sz="1900">
                <a:latin typeface="Aptos" panose="020B0004020202020204" pitchFamily="34" charset="0"/>
              </a:rPr>
              <a:t>• Runbooks need permission to manage VMs.</a:t>
            </a:r>
          </a:p>
          <a:p>
            <a:r>
              <a:rPr lang="en-US" sz="1900">
                <a:latin typeface="Aptos" panose="020B0004020202020204" pitchFamily="34" charset="0"/>
              </a:rPr>
              <a:t>• Managed identity provides authentication without storing passwords or keys.</a:t>
            </a:r>
          </a:p>
          <a:p>
            <a:r>
              <a:rPr lang="en-US" sz="1900">
                <a:latin typeface="Aptos" panose="020B0004020202020204" pitchFamily="34" charset="0"/>
              </a:rPr>
              <a:t>• Only required permissions should be assigned.</a:t>
            </a:r>
          </a:p>
          <a:p>
            <a:r>
              <a:rPr lang="en-US" sz="1900">
                <a:latin typeface="Aptos" panose="020B0004020202020204" pitchFamily="34" charset="0"/>
              </a:rPr>
              <a:t>• Over-scoped permissions can create security risks.</a:t>
            </a:r>
          </a:p>
          <a:p>
            <a:r>
              <a:rPr lang="en-US" sz="1900">
                <a:latin typeface="Aptos" panose="020B0004020202020204" pitchFamily="34" charset="0"/>
              </a:rPr>
              <a:t>• We follow the least-privilege principle.</a:t>
            </a:r>
          </a:p>
          <a:p>
            <a:endParaRPr lang="en-US" sz="1900" b="1">
              <a:latin typeface="Aptos" panose="020B0004020202020204" pitchFamily="34" charset="0"/>
            </a:endParaRPr>
          </a:p>
          <a:p>
            <a:r>
              <a:rPr lang="en-US" sz="1900">
                <a:latin typeface="Aptos" panose="020B0004020202020204" pitchFamily="34" charset="0"/>
              </a:rPr>
              <a:t>Example:</a:t>
            </a:r>
          </a:p>
          <a:p>
            <a:r>
              <a:rPr lang="en-US" sz="1900">
                <a:latin typeface="Aptos" panose="020B0004020202020204" pitchFamily="34" charset="0"/>
              </a:rPr>
              <a:t>Give the automation identity only the permissions needed to start and stop the required VMs.</a:t>
            </a:r>
            <a:endParaRPr lang="en-IN" sz="190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52168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42F1210-1562-D0FF-F8F8-BAC31CEAE2E9}"/>
              </a:ext>
            </a:extLst>
          </p:cNvPr>
          <p:cNvSpPr txBox="1"/>
          <p:nvPr/>
        </p:nvSpPr>
        <p:spPr>
          <a:xfrm>
            <a:off x="698500" y="381000"/>
            <a:ext cx="10795000" cy="507831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IN" sz="3000" b="1">
                <a:latin typeface="Aptos Display" panose="020B0004020202020204" pitchFamily="34" charset="0"/>
              </a:rPr>
              <a:t>Expected Results / Outcomes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39475E-B0DE-F053-8A94-1F8676DD4E52}"/>
              </a:ext>
            </a:extLst>
          </p:cNvPr>
          <p:cNvSpPr txBox="1"/>
          <p:nvPr/>
        </p:nvSpPr>
        <p:spPr>
          <a:xfrm>
            <a:off x="952500" y="1587500"/>
            <a:ext cx="10414000" cy="3477875"/>
          </a:xfrm>
          <a:prstGeom prst="rect">
            <a:avLst/>
          </a:prstGeom>
          <a:noFill/>
        </p:spPr>
        <p:txBody>
          <a:bodyPr vert="horz" lIns="127000" tIns="127000" rIns="127000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 sz="2100">
                <a:latin typeface="Aptos" panose="020B0004020202020204" pitchFamily="34" charset="0"/>
              </a:rPr>
              <a:t>• VMs start automatically at the scheduled time.</a:t>
            </a:r>
          </a:p>
          <a:p>
            <a:pPr>
              <a:spcAft>
                <a:spcPts val="800"/>
              </a:spcAft>
            </a:pPr>
            <a:r>
              <a:rPr lang="en-US" sz="2100">
                <a:latin typeface="Aptos" panose="020B0004020202020204" pitchFamily="34" charset="0"/>
              </a:rPr>
              <a:t>• Non-production VMs stop after working hours.</a:t>
            </a:r>
          </a:p>
          <a:p>
            <a:pPr>
              <a:spcAft>
                <a:spcPts val="800"/>
              </a:spcAft>
            </a:pPr>
            <a:r>
              <a:rPr lang="en-US" sz="2100">
                <a:latin typeface="Aptos" panose="020B0004020202020204" pitchFamily="34" charset="0"/>
              </a:rPr>
              <a:t>• Manual VM management is reduced.</a:t>
            </a:r>
          </a:p>
          <a:p>
            <a:pPr>
              <a:spcAft>
                <a:spcPts val="800"/>
              </a:spcAft>
            </a:pPr>
            <a:r>
              <a:rPr lang="en-US" sz="2100">
                <a:latin typeface="Aptos" panose="020B0004020202020204" pitchFamily="34" charset="0"/>
              </a:rPr>
              <a:t>• Unnecessary VM running time is reduced.</a:t>
            </a:r>
          </a:p>
          <a:p>
            <a:pPr>
              <a:spcAft>
                <a:spcPts val="800"/>
              </a:spcAft>
            </a:pPr>
            <a:r>
              <a:rPr lang="en-US" sz="2100">
                <a:latin typeface="Aptos" panose="020B0004020202020204" pitchFamily="34" charset="0"/>
              </a:rPr>
              <a:t>• Test-environment costs can be reduced significantly.</a:t>
            </a:r>
          </a:p>
          <a:p>
            <a:pPr>
              <a:spcAft>
                <a:spcPts val="800"/>
              </a:spcAft>
            </a:pPr>
            <a:r>
              <a:rPr lang="en-US" sz="2100">
                <a:latin typeface="Aptos" panose="020B0004020202020204" pitchFamily="34" charset="0"/>
              </a:rPr>
              <a:t>• Runbook failures can be detected through alerts.</a:t>
            </a:r>
          </a:p>
          <a:p>
            <a:pPr>
              <a:spcAft>
                <a:spcPts val="800"/>
              </a:spcAft>
            </a:pPr>
            <a:r>
              <a:rPr lang="en-US" sz="2100">
                <a:latin typeface="Aptos" panose="020B0004020202020204" pitchFamily="34" charset="0"/>
              </a:rPr>
              <a:t>• VM access is controlled using managed identity.</a:t>
            </a:r>
          </a:p>
          <a:p>
            <a:pPr>
              <a:spcAft>
                <a:spcPts val="800"/>
              </a:spcAft>
            </a:pPr>
            <a:endParaRPr lang="en-IN" sz="210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64324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D2F0E00-9F39-8951-27E3-8006ABDB2DE3}"/>
              </a:ext>
            </a:extLst>
          </p:cNvPr>
          <p:cNvSpPr txBox="1"/>
          <p:nvPr/>
        </p:nvSpPr>
        <p:spPr>
          <a:xfrm>
            <a:off x="698500" y="381000"/>
            <a:ext cx="10795000" cy="507831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IN" sz="3000" b="1">
                <a:latin typeface="Aptos Display" panose="020B0004020202020204" pitchFamily="34" charset="0"/>
              </a:rPr>
              <a:t>Project Timeline / Work Plan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0B281AD-1A23-E894-3D64-239C2D05FC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2739984"/>
              </p:ext>
            </p:extLst>
          </p:nvPr>
        </p:nvGraphicFramePr>
        <p:xfrm>
          <a:off x="762000" y="1333500"/>
          <a:ext cx="10668000" cy="469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56000">
                  <a:extLst>
                    <a:ext uri="{9D8B030D-6E8A-4147-A177-3AD203B41FA5}">
                      <a16:colId xmlns:a16="http://schemas.microsoft.com/office/drawing/2014/main" val="3373213585"/>
                    </a:ext>
                  </a:extLst>
                </a:gridCol>
                <a:gridCol w="3556000">
                  <a:extLst>
                    <a:ext uri="{9D8B030D-6E8A-4147-A177-3AD203B41FA5}">
                      <a16:colId xmlns:a16="http://schemas.microsoft.com/office/drawing/2014/main" val="1728896850"/>
                    </a:ext>
                  </a:extLst>
                </a:gridCol>
                <a:gridCol w="3556000">
                  <a:extLst>
                    <a:ext uri="{9D8B030D-6E8A-4147-A177-3AD203B41FA5}">
                      <a16:colId xmlns:a16="http://schemas.microsoft.com/office/drawing/2014/main" val="3271331849"/>
                    </a:ext>
                  </a:extLst>
                </a:gridCol>
              </a:tblGrid>
              <a:tr h="469900">
                <a:tc>
                  <a:txBody>
                    <a:bodyPr/>
                    <a:lstStyle/>
                    <a:p>
                      <a:r>
                        <a:rPr lang="en-IN" sz="1400" b="1">
                          <a:latin typeface="Aptos" panose="020B0004020202020204" pitchFamily="34" charset="0"/>
                        </a:rPr>
                        <a:t>Phase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1">
                          <a:latin typeface="Aptos" panose="020B0004020202020204" pitchFamily="34" charset="0"/>
                        </a:rPr>
                        <a:t>Activity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1">
                          <a:latin typeface="Aptos" panose="020B0004020202020204" pitchFamily="34" charset="0"/>
                        </a:rPr>
                        <a:t>Status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5405830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r>
                        <a:rPr lang="en-IN" sz="1400">
                          <a:latin typeface="Aptos" panose="020B000402020202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Aptos" panose="020B0004020202020204" pitchFamily="34" charset="0"/>
                        </a:rPr>
                        <a:t>Project selection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Aptos" panose="020B0004020202020204" pitchFamily="34" charset="0"/>
                        </a:rPr>
                        <a:t>Completed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7217701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r>
                        <a:rPr lang="en-IN" sz="1400">
                          <a:latin typeface="Aptos" panose="020B000402020202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Aptos" panose="020B0004020202020204" pitchFamily="34" charset="0"/>
                        </a:rPr>
                        <a:t>Azure Automation study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Aptos" panose="020B0004020202020204" pitchFamily="34" charset="0"/>
                        </a:rPr>
                        <a:t>Completed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6979126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r>
                        <a:rPr lang="en-IN" sz="1400">
                          <a:latin typeface="Aptos" panose="020B000402020202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Aptos" panose="020B0004020202020204" pitchFamily="34" charset="0"/>
                        </a:rPr>
                        <a:t>System design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Aptos" panose="020B0004020202020204" pitchFamily="34" charset="0"/>
                        </a:rPr>
                        <a:t>Ongoing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996491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r>
                        <a:rPr lang="en-IN" sz="1400">
                          <a:latin typeface="Aptos" panose="020B000402020202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Aptos" panose="020B0004020202020204" pitchFamily="34" charset="0"/>
                        </a:rPr>
                        <a:t>VM setup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Aptos" panose="020B0004020202020204" pitchFamily="34" charset="0"/>
                        </a:rPr>
                        <a:t>Ongoing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134953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r>
                        <a:rPr lang="en-IN" sz="1400">
                          <a:latin typeface="Aptos" panose="020B0004020202020204" pitchFamily="34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Aptos" panose="020B0004020202020204" pitchFamily="34" charset="0"/>
                        </a:rPr>
                        <a:t>Runbook creation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Aptos" panose="020B0004020202020204" pitchFamily="34" charset="0"/>
                        </a:rPr>
                        <a:t>Planned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7460380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r>
                        <a:rPr lang="en-IN" sz="1400">
                          <a:latin typeface="Aptos" panose="020B0004020202020204" pitchFamily="34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Aptos" panose="020B0004020202020204" pitchFamily="34" charset="0"/>
                        </a:rPr>
                        <a:t>Scheduling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Aptos" panose="020B0004020202020204" pitchFamily="34" charset="0"/>
                        </a:rPr>
                        <a:t>Planned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8820832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r>
                        <a:rPr lang="en-IN" sz="1400">
                          <a:latin typeface="Aptos" panose="020B0004020202020204" pitchFamily="34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Aptos" panose="020B0004020202020204" pitchFamily="34" charset="0"/>
                        </a:rPr>
                        <a:t>Monitoring and alerts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Aptos" panose="020B0004020202020204" pitchFamily="34" charset="0"/>
                        </a:rPr>
                        <a:t>Planned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7010274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r>
                        <a:rPr lang="en-IN" sz="1400">
                          <a:latin typeface="Aptos" panose="020B0004020202020204" pitchFamily="34" charset="0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Aptos" panose="020B0004020202020204" pitchFamily="34" charset="0"/>
                        </a:rPr>
                        <a:t>Testing and optimization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Aptos" panose="020B0004020202020204" pitchFamily="34" charset="0"/>
                        </a:rPr>
                        <a:t>Planned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5689385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r>
                        <a:rPr lang="en-IN" sz="1400">
                          <a:latin typeface="Aptos" panose="020B0004020202020204" pitchFamily="34" charset="0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Aptos" panose="020B0004020202020204" pitchFamily="34" charset="0"/>
                        </a:rPr>
                        <a:t>Final implementation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Aptos" panose="020B0004020202020204" pitchFamily="34" charset="0"/>
                        </a:rPr>
                        <a:t>Planned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25442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82557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43719A6-C45A-5CAF-E680-D087089C08E5}"/>
              </a:ext>
            </a:extLst>
          </p:cNvPr>
          <p:cNvSpPr txBox="1"/>
          <p:nvPr/>
        </p:nvSpPr>
        <p:spPr>
          <a:xfrm>
            <a:off x="698500" y="381000"/>
            <a:ext cx="10795000" cy="507831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IN" sz="3000" b="1">
                <a:latin typeface="Aptos Display" panose="020B0004020202020204" pitchFamily="34" charset="0"/>
              </a:rPr>
              <a:t>Conclusion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F25536-BDAA-7784-37C5-CD45FC6010CD}"/>
              </a:ext>
            </a:extLst>
          </p:cNvPr>
          <p:cNvSpPr txBox="1"/>
          <p:nvPr/>
        </p:nvSpPr>
        <p:spPr>
          <a:xfrm>
            <a:off x="952500" y="1587500"/>
            <a:ext cx="10414000" cy="3052118"/>
          </a:xfrm>
          <a:prstGeom prst="rect">
            <a:avLst/>
          </a:prstGeom>
          <a:noFill/>
        </p:spPr>
        <p:txBody>
          <a:bodyPr vert="horz" lIns="127000" tIns="127000" rIns="127000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 sz="2100">
                <a:latin typeface="Aptos" panose="020B0004020202020204" pitchFamily="34" charset="0"/>
              </a:rPr>
              <a:t>• The project automates Azure VM start and stop operations.</a:t>
            </a:r>
          </a:p>
          <a:p>
            <a:pPr>
              <a:spcAft>
                <a:spcPts val="800"/>
              </a:spcAft>
            </a:pPr>
            <a:r>
              <a:rPr lang="en-US" sz="2100">
                <a:latin typeface="Aptos" panose="020B0004020202020204" pitchFamily="34" charset="0"/>
              </a:rPr>
              <a:t>• Azure Automation Runbooks handle the scheduled tasks.</a:t>
            </a:r>
          </a:p>
          <a:p>
            <a:pPr>
              <a:spcAft>
                <a:spcPts val="800"/>
              </a:spcAft>
            </a:pPr>
            <a:r>
              <a:rPr lang="en-US" sz="2100">
                <a:latin typeface="Aptos" panose="020B0004020202020204" pitchFamily="34" charset="0"/>
              </a:rPr>
              <a:t>• This reduces manual work and unnecessary VM usage.</a:t>
            </a:r>
          </a:p>
          <a:p>
            <a:pPr>
              <a:spcAft>
                <a:spcPts val="800"/>
              </a:spcAft>
            </a:pPr>
            <a:r>
              <a:rPr lang="en-US" sz="2100">
                <a:latin typeface="Aptos" panose="020B0004020202020204" pitchFamily="34" charset="0"/>
              </a:rPr>
              <a:t>• Monitoring helps identify failed automation runs.</a:t>
            </a:r>
          </a:p>
          <a:p>
            <a:pPr>
              <a:spcAft>
                <a:spcPts val="800"/>
              </a:spcAft>
            </a:pPr>
            <a:r>
              <a:rPr lang="en-US" sz="2100">
                <a:latin typeface="Aptos" panose="020B0004020202020204" pitchFamily="34" charset="0"/>
              </a:rPr>
              <a:t>• Managed identity provides a more secure way to access Azure resources.</a:t>
            </a:r>
          </a:p>
          <a:p>
            <a:pPr>
              <a:spcAft>
                <a:spcPts val="800"/>
              </a:spcAft>
            </a:pPr>
            <a:r>
              <a:rPr lang="en-US" sz="2100">
                <a:latin typeface="Aptos" panose="020B0004020202020204" pitchFamily="34" charset="0"/>
              </a:rPr>
              <a:t>• Overall, the project aims to improve cost efficiency and cloud resource management.</a:t>
            </a:r>
          </a:p>
          <a:p>
            <a:pPr>
              <a:spcAft>
                <a:spcPts val="800"/>
              </a:spcAft>
            </a:pPr>
            <a:endParaRPr lang="en-IN" sz="210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99877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A53E673-C8D1-2DE1-AFCE-1AE783BC5BA4}"/>
              </a:ext>
            </a:extLst>
          </p:cNvPr>
          <p:cNvSpPr txBox="1"/>
          <p:nvPr/>
        </p:nvSpPr>
        <p:spPr>
          <a:xfrm>
            <a:off x="698500" y="381000"/>
            <a:ext cx="10795000" cy="507831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IN" sz="3000" b="1">
                <a:latin typeface="Aptos Display" panose="020B0004020202020204" pitchFamily="34" charset="0"/>
              </a:rPr>
              <a:t>References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D4DC1F-BA23-2F22-4736-C29EB1852892}"/>
              </a:ext>
            </a:extLst>
          </p:cNvPr>
          <p:cNvSpPr txBox="1"/>
          <p:nvPr/>
        </p:nvSpPr>
        <p:spPr>
          <a:xfrm>
            <a:off x="858683" y="1075403"/>
            <a:ext cx="10160000" cy="558614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lvl="0"/>
            <a:r>
              <a:rPr lang="en-IN" sz="2100" dirty="0">
                <a:latin typeface="Aptos" panose="020B0004020202020204" pitchFamily="34" charset="0"/>
              </a:rPr>
              <a:t>•</a:t>
            </a:r>
            <a:r>
              <a:rPr lang="en-IN" sz="2400" b="1" dirty="0"/>
              <a:t>Microsoft Azure — Azure Automation</a:t>
            </a:r>
            <a:br>
              <a:rPr lang="en-IN" sz="2400" dirty="0"/>
            </a:br>
            <a:r>
              <a:rPr lang="en-IN" sz="2400" dirty="0">
                <a:hlinkClick r:id="rId2"/>
              </a:rPr>
              <a:t>https://learn.microsoft.com/en-us/azure/automation/</a:t>
            </a:r>
            <a:r>
              <a:rPr lang="en-IN" sz="2400" dirty="0"/>
              <a:t> </a:t>
            </a:r>
          </a:p>
          <a:p>
            <a:pPr lvl="0"/>
            <a:r>
              <a:rPr lang="en-IN" sz="2400" b="1" dirty="0"/>
              <a:t>Microsoft Azure — Automation Runbooks</a:t>
            </a:r>
            <a:br>
              <a:rPr lang="en-IN" sz="2400" dirty="0"/>
            </a:br>
            <a:r>
              <a:rPr lang="en-IN" sz="2400" dirty="0">
                <a:hlinkClick r:id="rId3"/>
              </a:rPr>
              <a:t>https://learn.microsoft.com/en-us/azure/automation/automation-runbook-types</a:t>
            </a:r>
            <a:r>
              <a:rPr lang="en-IN" sz="2400" dirty="0"/>
              <a:t> </a:t>
            </a:r>
          </a:p>
          <a:p>
            <a:pPr lvl="0"/>
            <a:r>
              <a:rPr lang="en-IN" sz="2400" b="1" dirty="0"/>
              <a:t>Microsoft Azure — Virtual Machines</a:t>
            </a:r>
            <a:br>
              <a:rPr lang="en-IN" sz="2400" dirty="0"/>
            </a:br>
            <a:r>
              <a:rPr lang="en-IN" sz="2400" dirty="0">
                <a:hlinkClick r:id="rId4"/>
              </a:rPr>
              <a:t>https://learn.microsoft.com/en-us/azure/virtual-machines/</a:t>
            </a:r>
            <a:r>
              <a:rPr lang="en-IN" sz="2400" dirty="0"/>
              <a:t> </a:t>
            </a:r>
          </a:p>
          <a:p>
            <a:pPr lvl="0"/>
            <a:r>
              <a:rPr lang="en-IN" sz="2400" b="1" dirty="0"/>
              <a:t>Microsoft Azure — Managed Identities</a:t>
            </a:r>
            <a:br>
              <a:rPr lang="en-IN" sz="2400" dirty="0"/>
            </a:br>
            <a:r>
              <a:rPr lang="en-IN" sz="2400" dirty="0">
                <a:hlinkClick r:id="rId5"/>
              </a:rPr>
              <a:t>https://learn.microsoft.com/en-us/entra/identity/managed-identities-azure-resources/overview</a:t>
            </a:r>
            <a:r>
              <a:rPr lang="en-IN" sz="2400" dirty="0"/>
              <a:t> </a:t>
            </a:r>
          </a:p>
          <a:p>
            <a:pPr lvl="0"/>
            <a:r>
              <a:rPr lang="en-IN" sz="2400" b="1" dirty="0"/>
              <a:t>Microsoft Azure — Azure Monitor Alerts</a:t>
            </a:r>
            <a:br>
              <a:rPr lang="en-IN" sz="2400" dirty="0"/>
            </a:br>
            <a:r>
              <a:rPr lang="en-IN" sz="2400" dirty="0">
                <a:hlinkClick r:id="rId6"/>
              </a:rPr>
              <a:t>https://learn.microsoft.com/en-us/azure/azure-monitor/alerts/alerts-overview</a:t>
            </a:r>
            <a:r>
              <a:rPr lang="en-IN" sz="2400" dirty="0"/>
              <a:t> </a:t>
            </a:r>
          </a:p>
          <a:p>
            <a:pPr lvl="0"/>
            <a:r>
              <a:rPr lang="en-IN" sz="2400" b="1" dirty="0"/>
              <a:t>Microsoft Azure — Azure Role-Based Access Control (RBAC)</a:t>
            </a:r>
            <a:br>
              <a:rPr lang="en-IN" sz="2400" dirty="0"/>
            </a:br>
            <a:r>
              <a:rPr lang="en-IN" sz="2400" dirty="0">
                <a:hlinkClick r:id="rId7"/>
              </a:rPr>
              <a:t>https://learn.microsoft.com/en-us/azure/role-based-access-control/overview</a:t>
            </a:r>
            <a:endParaRPr lang="en-IN" sz="2400" dirty="0"/>
          </a:p>
          <a:p>
            <a:endParaRPr lang="en-IN" sz="21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5988083"/>
      </p:ext>
    </p:extLst>
  </p:cSld>
  <p:clrMapOvr>
    <a:masterClrMapping/>
  </p:clrMapOvr>
</p:sld>
</file>

<file path=ppt/theme/theme1.xml><?xml version="1.0" encoding="utf-8"?>
<a:theme xmlns:a="http://schemas.openxmlformats.org/drawingml/2006/main" name="Editorial">
  <a:themeElements>
    <a:clrScheme name="Editorial">
      <a:dk1>
        <a:sysClr val="windowText" lastClr="000000"/>
      </a:dk1>
      <a:lt1>
        <a:sysClr val="window" lastClr="FFFFFF"/>
      </a:lt1>
      <a:dk2>
        <a:srgbClr val="171717"/>
      </a:dk2>
      <a:lt2>
        <a:srgbClr val="F7F6F3"/>
      </a:lt2>
      <a:accent1>
        <a:srgbClr val="C8350F"/>
      </a:accent1>
      <a:accent2>
        <a:srgbClr val="B6A992"/>
      </a:accent2>
      <a:accent3>
        <a:srgbClr val="D59A6D"/>
      </a:accent3>
      <a:accent4>
        <a:srgbClr val="C7793D"/>
      </a:accent4>
      <a:accent5>
        <a:srgbClr val="DB8464"/>
      </a:accent5>
      <a:accent6>
        <a:srgbClr val="3F7699"/>
      </a:accent6>
      <a:hlink>
        <a:srgbClr val="C8350F"/>
      </a:hlink>
      <a:folHlink>
        <a:srgbClr val="DB8464"/>
      </a:folHlink>
    </a:clrScheme>
    <a:fontScheme name="Custom 22">
      <a:majorFont>
        <a:latin typeface="Haettenschweiler"/>
        <a:ea typeface=""/>
        <a:cs typeface=""/>
      </a:majorFont>
      <a:minorFont>
        <a:latin typeface="Trade Gothic Next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Editorial" id="{71EC1670-473B-4381-BA1C-B02CC96DD716}" vid="{C5D3EF77-ADD0-40FD-A769-C339DAE739D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Editorial</Template>
  <TotalTime>41</TotalTime>
  <Words>1085</Words>
  <Application>Microsoft Office PowerPoint</Application>
  <PresentationFormat>Widescreen</PresentationFormat>
  <Paragraphs>213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Aptos</vt:lpstr>
      <vt:lpstr>Aptos Display</vt:lpstr>
      <vt:lpstr>Arial</vt:lpstr>
      <vt:lpstr>Haettenschweiler</vt:lpstr>
      <vt:lpstr>Trade Gothic Next Light</vt:lpstr>
      <vt:lpstr>Editorial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Ravi shankar Rachuri</dc:creator>
  <cp:lastModifiedBy>Ravi shankar Rachuri</cp:lastModifiedBy>
  <cp:revision>4</cp:revision>
  <dcterms:created xsi:type="dcterms:W3CDTF">2026-08-25T16:49:42Z</dcterms:created>
  <dcterms:modified xsi:type="dcterms:W3CDTF">2026-08-26T02:07:19Z</dcterms:modified>
</cp:coreProperties>
</file>